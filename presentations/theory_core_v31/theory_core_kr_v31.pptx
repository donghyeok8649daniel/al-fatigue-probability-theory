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F93A8-4FC5-4EF1-8286-A039534C9A6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07CDD-63FE-48F3-8DB4-56FE158C9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06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팀 세미나용 이론 정리</a:t>
            </a:r>
            <a:r>
              <a:rPr lang="en-US" altLang="ko-KR"/>
              <a:t>. </a:t>
            </a:r>
            <a:r>
              <a:rPr lang="ko-KR" altLang="en-US"/>
              <a:t>기존 </a:t>
            </a:r>
            <a:r>
              <a:rPr lang="en-US" altLang="ko-KR"/>
              <a:t>two-row </a:t>
            </a:r>
            <a:r>
              <a:rPr lang="ko-KR" altLang="en-US"/>
              <a:t>생산 기준과 </a:t>
            </a:r>
            <a:r>
              <a:rPr lang="en-US" altLang="ko-KR"/>
              <a:t>full FCC / </a:t>
            </a:r>
            <a:r>
              <a:rPr lang="ko-KR" altLang="en-US"/>
              <a:t>활성 계면 </a:t>
            </a:r>
            <a:r>
              <a:rPr lang="en-US" altLang="ko-KR"/>
              <a:t>/ </a:t>
            </a:r>
            <a:r>
              <a:rPr lang="ko-KR" altLang="en-US"/>
              <a:t>공간 결함 연구 확장을 구분한다</a:t>
            </a:r>
            <a:r>
              <a:rPr lang="en-US" altLang="ko-KR"/>
              <a:t>. </a:t>
            </a:r>
            <a:r>
              <a:rPr lang="ko-KR" altLang="en-US"/>
              <a:t>이 자료는 실험 항복강도</a:t>
            </a:r>
            <a:r>
              <a:rPr lang="en-US" altLang="ko-KR"/>
              <a:t>·</a:t>
            </a:r>
            <a:r>
              <a:rPr lang="ko-KR" altLang="en-US"/>
              <a:t>피로수명</a:t>
            </a:r>
            <a:r>
              <a:rPr lang="en-US" altLang="ko-KR"/>
              <a:t>·</a:t>
            </a:r>
            <a:r>
              <a:rPr lang="ko-KR" altLang="en-US"/>
              <a:t>물리 </a:t>
            </a:r>
            <a:r>
              <a:rPr lang="en-US" altLang="ko-KR"/>
              <a:t>Hz</a:t>
            </a:r>
            <a:r>
              <a:rPr lang="ko-KR" altLang="en-US"/>
              <a:t>의 검증 완료를 주장하지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AGENTS.md</a:t>
            </a:r>
          </a:p>
          <a:p>
            <a:r>
              <a:rPr lang="en-US" altLang="ko-KR"/>
              <a:t>solver_v1/WEAK_KINETICS_AND_MATERIAL_V31.md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821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더 상세한 기하학이 이전 보정 파라미터의 전이를 보장하지 않는다</a:t>
            </a:r>
            <a:r>
              <a:rPr lang="en-US" altLang="ko-KR"/>
              <a:t>. </a:t>
            </a:r>
            <a:r>
              <a:rPr lang="ko-KR" altLang="en-US"/>
              <a:t>각 단계는 에너지 정규화</a:t>
            </a:r>
            <a:r>
              <a:rPr lang="en-US" altLang="ko-KR"/>
              <a:t>, </a:t>
            </a:r>
            <a:r>
              <a:rPr lang="ko-KR" altLang="en-US"/>
              <a:t>경계조건</a:t>
            </a:r>
            <a:r>
              <a:rPr lang="en-US" altLang="ko-KR"/>
              <a:t>, </a:t>
            </a:r>
            <a:r>
              <a:rPr lang="ko-KR" altLang="en-US"/>
              <a:t>관측량을 새로 확인한다</a:t>
            </a:r>
            <a:r>
              <a:rPr lang="en-US" altLang="ko-KR"/>
              <a:t>. </a:t>
            </a:r>
            <a:r>
              <a:rPr lang="ko-KR" altLang="en-US"/>
              <a:t>기존 생산 </a:t>
            </a:r>
            <a:r>
              <a:rPr lang="en-US" altLang="ko-KR"/>
              <a:t>PDE</a:t>
            </a:r>
            <a:r>
              <a:rPr lang="ko-KR" altLang="en-US"/>
              <a:t>와 연구용 계면</a:t>
            </a:r>
            <a:r>
              <a:rPr lang="en-US" altLang="ko-KR"/>
              <a:t>/</a:t>
            </a:r>
            <a:r>
              <a:rPr lang="ko-KR" altLang="en-US"/>
              <a:t>전위 계산의 구현 수준을 혼동하지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AGENTS.md</a:t>
            </a:r>
          </a:p>
          <a:p>
            <a:r>
              <a:rPr lang="en-US" altLang="ko-KR"/>
              <a:t>solver_v1/FCC111_FULL_STACK_DERIVATION.md</a:t>
            </a:r>
          </a:p>
          <a:p>
            <a:r>
              <a:rPr lang="en-US" altLang="ko-KR"/>
              <a:t>solver_v1/VECTOR_FCC_CORE_DERIVATION.md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365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</a:t>
            </a:r>
            <a:r>
              <a:rPr lang="ko-KR" altLang="en-US"/>
              <a:t>가 한 주기만큼 이동하면 국소 에너지는 같아도 누적 </a:t>
            </a:r>
            <a:r>
              <a:rPr lang="en-US" altLang="ko-KR"/>
              <a:t>translation</a:t>
            </a:r>
            <a:r>
              <a:rPr lang="ko-KR" altLang="en-US"/>
              <a:t>은 달라진다</a:t>
            </a:r>
            <a:r>
              <a:rPr lang="en-US" altLang="ko-KR"/>
              <a:t>. n≠0</a:t>
            </a:r>
            <a:r>
              <a:rPr lang="ko-KR" altLang="en-US"/>
              <a:t>만으로 실제 </a:t>
            </a:r>
            <a:r>
              <a:rPr lang="en-US" altLang="ko-KR"/>
              <a:t>Al </a:t>
            </a:r>
            <a:r>
              <a:rPr lang="ko-KR" altLang="en-US"/>
              <a:t>소성을 입증하지 않는다</a:t>
            </a:r>
            <a:r>
              <a:rPr lang="en-US" altLang="ko-KR"/>
              <a:t>. </a:t>
            </a:r>
            <a:r>
              <a:rPr lang="ko-KR" altLang="en-US"/>
              <a:t>벡터 </a:t>
            </a:r>
            <a:r>
              <a:rPr lang="en-US" altLang="ko-KR"/>
              <a:t>registry</a:t>
            </a:r>
            <a:r>
              <a:rPr lang="ko-KR" altLang="en-US"/>
              <a:t>에서는 </a:t>
            </a:r>
            <a:r>
              <a:rPr lang="en-US" altLang="ko-KR"/>
              <a:t>scalar floor </a:t>
            </a:r>
            <a:r>
              <a:rPr lang="ko-KR" altLang="en-US"/>
              <a:t>분해를 두 방향에 무심코 복사하지 않고 결정격자와 경로를 명시해야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solver_v1/CONFIGURATIONAL_PLASTICITY.md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681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two-row W</a:t>
            </a:r>
            <a:r>
              <a:rPr lang="ko-KR" altLang="en-US"/>
              <a:t>는 한 상부 사이트가 무한 하부 원자열과 갖는 교차 상호작용이다</a:t>
            </a:r>
            <a:r>
              <a:rPr lang="en-US" altLang="ko-KR"/>
              <a:t>. </a:t>
            </a:r>
            <a:r>
              <a:rPr lang="ko-KR" altLang="en-US"/>
              <a:t>기존 </a:t>
            </a:r>
            <a:r>
              <a:rPr lang="en-US" altLang="ko-KR"/>
              <a:t>normal-chain </a:t>
            </a:r>
            <a:r>
              <a:rPr lang="ko-KR" altLang="en-US"/>
              <a:t>에너지를 중복 가산하지 않는다</a:t>
            </a:r>
            <a:r>
              <a:rPr lang="en-US" altLang="ko-KR"/>
              <a:t>. LJ pair functional form</a:t>
            </a:r>
            <a:r>
              <a:rPr lang="ko-KR" altLang="en-US"/>
              <a:t>은 환경 항을 확장하더라도 유지한다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solver_v1/BESSEL_LATTICE_DERIVATION.md</a:t>
            </a:r>
          </a:p>
          <a:p>
            <a:r>
              <a:rPr lang="en-US" altLang="ko-KR"/>
              <a:t>solver_v1/lattice_bessel.py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76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멱함수를 </a:t>
            </a:r>
            <a:r>
              <a:rPr lang="en-US" altLang="ko-KR"/>
              <a:t>Gamma </a:t>
            </a:r>
            <a:r>
              <a:rPr lang="ko-KR" altLang="en-US"/>
              <a:t>적분으로 바꾸면 격자 차원의 역할이 </a:t>
            </a:r>
            <a:r>
              <a:rPr lang="en-US" altLang="ko-KR"/>
              <a:t>Gaussian </a:t>
            </a:r>
            <a:r>
              <a:rPr lang="ko-KR" altLang="en-US"/>
              <a:t>적분의 </a:t>
            </a:r>
            <a:r>
              <a:rPr lang="en-US" altLang="ko-KR"/>
              <a:t>t^(−D/2)</a:t>
            </a:r>
            <a:r>
              <a:rPr lang="ko-KR" altLang="en-US"/>
              <a:t>로 명시된다</a:t>
            </a:r>
            <a:r>
              <a:rPr lang="en-US" altLang="ko-KR"/>
              <a:t>. </a:t>
            </a:r>
            <a:r>
              <a:rPr lang="ko-KR" altLang="en-US"/>
              <a:t>이 변환이 </a:t>
            </a:r>
            <a:r>
              <a:rPr lang="en-US" altLang="ko-KR"/>
              <a:t>row</a:t>
            </a:r>
            <a:r>
              <a:rPr lang="ko-KR" altLang="en-US"/>
              <a:t>와 </a:t>
            </a:r>
            <a:r>
              <a:rPr lang="en-US" altLang="ko-KR"/>
              <a:t>plane</a:t>
            </a:r>
            <a:r>
              <a:rPr lang="ko-KR" altLang="en-US"/>
              <a:t>의 </a:t>
            </a:r>
            <a:r>
              <a:rPr lang="en-US" altLang="ko-KR"/>
              <a:t>Bessel </a:t>
            </a:r>
            <a:r>
              <a:rPr lang="ko-KR" altLang="en-US"/>
              <a:t>차수가 달라지는 이유다</a:t>
            </a:r>
            <a:r>
              <a:rPr lang="en-US" altLang="ko-KR"/>
              <a:t>. </a:t>
            </a:r>
            <a:r>
              <a:rPr lang="ko-KR" altLang="en-US"/>
              <a:t>위 식은 절대수렴 조건에서 적분 순서를 바꾼다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solver_v1/BESSEL_LATTICE_DERIVATION.md</a:t>
            </a:r>
          </a:p>
          <a:p>
            <a:r>
              <a:rPr lang="en-US" altLang="ko-KR"/>
              <a:t>solver_v1/FCC111_FULL_STACK_DERIVATION.md</a:t>
            </a:r>
          </a:p>
          <a:p>
            <a:r>
              <a:rPr lang="en-US" altLang="ko-KR"/>
              <a:t>https://dlmf.nist.gov/10.32#E10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249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적분 항등식 ∫</a:t>
            </a:r>
            <a:r>
              <a:rPr lang="en-US" altLang="ko-KR"/>
              <a:t>t^(ν−1)exp(−βt−γ/t)dt=2(γ/β)^(ν/2)Kν(2√βγ)</a:t>
            </a:r>
            <a:r>
              <a:rPr lang="ko-KR" altLang="en-US"/>
              <a:t>를 적용한다</a:t>
            </a:r>
            <a:r>
              <a:rPr lang="en-US" altLang="ko-KR"/>
              <a:t>. ν=p−D/2, β=d², γ=|k|²/4. Bessel</a:t>
            </a:r>
            <a:r>
              <a:rPr lang="ko-KR" altLang="en-US"/>
              <a:t>은 새로운 경험식이 아니라 기존 무한 격자합의 정확한 </a:t>
            </a:r>
            <a:r>
              <a:rPr lang="en-US" altLang="ko-KR"/>
              <a:t>reciprocal </a:t>
            </a:r>
            <a:r>
              <a:rPr lang="ko-KR" altLang="en-US"/>
              <a:t>표현이다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solver_v1/FCC111_FULL_STACK_DERIVATION.md</a:t>
            </a:r>
          </a:p>
          <a:p>
            <a:r>
              <a:rPr lang="en-US" altLang="ko-KR"/>
              <a:t>https://dlmf.nist.gov/10.32#E10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92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Poisson </a:t>
            </a:r>
            <a:r>
              <a:rPr lang="ko-KR" altLang="en-US"/>
              <a:t>공식의 </a:t>
            </a:r>
            <a:r>
              <a:rPr lang="en-US" altLang="ko-KR"/>
              <a:t>1/b</a:t>
            </a:r>
            <a:r>
              <a:rPr lang="ko-KR" altLang="en-US"/>
              <a:t>와 </a:t>
            </a:r>
            <a:r>
              <a:rPr lang="en-US" altLang="ko-KR"/>
              <a:t>±m </a:t>
            </a:r>
            <a:r>
              <a:rPr lang="ko-KR" altLang="en-US"/>
              <a:t>쌍의 </a:t>
            </a:r>
            <a:r>
              <a:rPr lang="en-US" altLang="ko-KR"/>
              <a:t>2</a:t>
            </a:r>
            <a:r>
              <a:rPr lang="ko-KR" altLang="en-US"/>
              <a:t>를 함께 반영해야 계수가 맞는다</a:t>
            </a:r>
            <a:r>
              <a:rPr lang="en-US" altLang="ko-KR"/>
              <a:t>. m=0</a:t>
            </a:r>
            <a:r>
              <a:rPr lang="ko-KR" altLang="en-US"/>
              <a:t>은 평균 정상 결합</a:t>
            </a:r>
            <a:r>
              <a:rPr lang="en-US" altLang="ko-KR"/>
              <a:t>, m≠0</a:t>
            </a:r>
            <a:r>
              <a:rPr lang="ko-KR" altLang="en-US"/>
              <a:t>은 </a:t>
            </a:r>
            <a:r>
              <a:rPr lang="en-US" altLang="ko-KR"/>
              <a:t>registry corrugation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실제 코드는 허용오차로 </a:t>
            </a:r>
            <a:r>
              <a:rPr lang="en-US" altLang="ko-KR"/>
              <a:t>reciprocal </a:t>
            </a:r>
            <a:r>
              <a:rPr lang="ko-KR" altLang="en-US"/>
              <a:t>급수를 절단하는 반해석적 평가다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solver_v1/BESSEL_LATTICE_DERIVATION.md</a:t>
            </a:r>
          </a:p>
          <a:p>
            <a:r>
              <a:rPr lang="en-US" altLang="ko-KR"/>
              <a:t>solver_v1/lattice_bessel.py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583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큰 </a:t>
            </a:r>
            <a:r>
              <a:rPr lang="en-US" altLang="ko-KR"/>
              <a:t>a</a:t>
            </a:r>
            <a:r>
              <a:rPr lang="ko-KR" altLang="en-US"/>
              <a:t>에서 </a:t>
            </a:r>
            <a:r>
              <a:rPr lang="en-US" altLang="ko-KR"/>
              <a:t>s </a:t>
            </a:r>
            <a:r>
              <a:rPr lang="ko-KR" altLang="en-US"/>
              <a:t>장벽이 약해지는 경향은 같은 </a:t>
            </a:r>
            <a:r>
              <a:rPr lang="en-US" altLang="ko-KR"/>
              <a:t>LJ </a:t>
            </a:r>
            <a:r>
              <a:rPr lang="ko-KR" altLang="en-US"/>
              <a:t>격자합에서 나온다</a:t>
            </a:r>
            <a:r>
              <a:rPr lang="en-US" altLang="ko-KR"/>
              <a:t>. </a:t>
            </a:r>
            <a:r>
              <a:rPr lang="ko-KR" altLang="en-US"/>
              <a:t>점근 지수만으로 정확한 장벽이나 총 절단오차를 결정하지 않는다</a:t>
            </a:r>
            <a:r>
              <a:rPr lang="en-US" altLang="ko-KR"/>
              <a:t>. a,s </a:t>
            </a:r>
            <a:r>
              <a:rPr lang="ko-KR" altLang="en-US"/>
              <a:t>혼합 미분도 동일 계수와 위상을 미분해 얻는다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solver_v1/BESSEL_LATTICE_DERIVATION.md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549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환경 밀도 </a:t>
            </a:r>
            <a:r>
              <a:rPr lang="en-US" altLang="ko-KR"/>
              <a:t>ρ</a:t>
            </a:r>
            <a:r>
              <a:rPr lang="ko-KR" altLang="en-US"/>
              <a:t>는 확률밀도 </a:t>
            </a:r>
            <a:r>
              <a:rPr lang="en-US" altLang="ko-KR"/>
              <a:t>P, </a:t>
            </a:r>
            <a:r>
              <a:rPr lang="ko-KR" altLang="en-US"/>
              <a:t>질량 밀도와 다른 양이다</a:t>
            </a:r>
            <a:r>
              <a:rPr lang="en-US" altLang="ko-KR"/>
              <a:t>. Cρ=ρ0 exp(βρ), κρ=βρ/rₑ. 1D transform</a:t>
            </a:r>
            <a:r>
              <a:rPr lang="ko-KR" altLang="en-US"/>
              <a:t>은 </a:t>
            </a:r>
            <a:r>
              <a:rPr lang="en-US" altLang="ko-KR"/>
              <a:t>exp(−κr)/r</a:t>
            </a:r>
            <a:r>
              <a:rPr lang="ko-KR" altLang="en-US"/>
              <a:t>의 </a:t>
            </a:r>
            <a:r>
              <a:rPr lang="en-US" altLang="ko-KR"/>
              <a:t>2K0(aQ)</a:t>
            </a:r>
            <a:r>
              <a:rPr lang="ko-KR" altLang="en-US"/>
              <a:t>를 </a:t>
            </a:r>
            <a:r>
              <a:rPr lang="en-US" altLang="ko-KR"/>
              <a:t>κ</a:t>
            </a:r>
            <a:r>
              <a:rPr lang="ko-KR" altLang="en-US"/>
              <a:t>로 미분해 검증할 수 있다</a:t>
            </a:r>
            <a:r>
              <a:rPr lang="en-US" altLang="ko-KR"/>
              <a:t>. ρ0</a:t>
            </a:r>
            <a:r>
              <a:rPr lang="ko-KR" altLang="en-US"/>
              <a:t>와</a:t>
            </a:r>
            <a:r>
              <a:rPr lang="en-US" altLang="ko-KR"/>
              <a:t>ρref</a:t>
            </a:r>
            <a:r>
              <a:rPr lang="ko-KR" altLang="en-US"/>
              <a:t>의 비율에는 </a:t>
            </a:r>
            <a:r>
              <a:rPr lang="en-US" altLang="ko-KR"/>
              <a:t>gauge</a:t>
            </a:r>
            <a:r>
              <a:rPr lang="ko-KR" altLang="en-US"/>
              <a:t>가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solver_v1/ANALYTIC_LJ_EAM_HYBRID.md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562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 식 </a:t>
            </a:r>
            <a:r>
              <a:rPr lang="en-US" altLang="ko-KR"/>
              <a:t>α,β</a:t>
            </a:r>
            <a:r>
              <a:rPr lang="ko-KR" altLang="en-US"/>
              <a:t>는 집단좌표 미분 지표이고 </a:t>
            </a:r>
            <a:r>
              <a:rPr lang="en-US" altLang="ko-KR"/>
              <a:t>F′,F″</a:t>
            </a:r>
            <a:r>
              <a:rPr lang="ko-KR" altLang="en-US"/>
              <a:t>는 </a:t>
            </a:r>
            <a:r>
              <a:rPr lang="en-US" altLang="ko-KR"/>
              <a:t>dimensionless density x</a:t>
            </a:r>
            <a:r>
              <a:rPr lang="ko-KR" altLang="en-US"/>
              <a:t>에 대한 미분이다</a:t>
            </a:r>
            <a:r>
              <a:rPr lang="en-US" altLang="ko-KR"/>
              <a:t>. </a:t>
            </a:r>
            <a:r>
              <a:rPr lang="ko-KR" altLang="en-US"/>
              <a:t>원자 지표 </a:t>
            </a:r>
            <a:r>
              <a:rPr lang="en-US" altLang="ko-KR"/>
              <a:t>i,j</a:t>
            </a:r>
            <a:r>
              <a:rPr lang="ko-KR" altLang="en-US"/>
              <a:t>와 구별한다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hybrid</a:t>
            </a:r>
            <a:r>
              <a:rPr lang="ko-KR" altLang="en-US"/>
              <a:t>는 기존 </a:t>
            </a:r>
            <a:r>
              <a:rPr lang="en-US" altLang="ko-KR"/>
              <a:t>Al EAM </a:t>
            </a:r>
            <a:r>
              <a:rPr lang="ko-KR" altLang="en-US"/>
              <a:t>파라미터화를 자동으로 계승하지 않는다</a:t>
            </a:r>
            <a:r>
              <a:rPr lang="en-US" altLang="ko-KR"/>
              <a:t>. </a:t>
            </a:r>
            <a:r>
              <a:rPr lang="ko-KR" altLang="en-US"/>
              <a:t>쌍</a:t>
            </a:r>
            <a:r>
              <a:rPr lang="en-US" altLang="ko-KR"/>
              <a:t>/embedding </a:t>
            </a:r>
            <a:r>
              <a:rPr lang="ko-KR" altLang="en-US"/>
              <a:t>분해의 </a:t>
            </a:r>
            <a:r>
              <a:rPr lang="en-US" altLang="ko-KR"/>
              <a:t>gauge </a:t>
            </a:r>
            <a:r>
              <a:rPr lang="ko-KR" altLang="en-US"/>
              <a:t>때문에 계수의 물리 해석에는 식별성 검사가 필요하다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solver_v1/ANALYTIC_LJ_EAM_HYBRID.md</a:t>
            </a:r>
          </a:p>
          <a:p>
            <a:r>
              <a:rPr lang="en-US" altLang="ko-KR"/>
              <a:t>solver_v1/FCC111_FULL_STACK_DERIVATION.md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669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기하학 </a:t>
            </a:r>
            <a:r>
              <a:rPr lang="en-US" altLang="ko-KR"/>
              <a:t>frame e1=(1,−1,0)/√2, e2=(1,1,−2)/√6, e3=(1,1,1)/√3</a:t>
            </a:r>
            <a:r>
              <a:rPr lang="ko-KR" altLang="en-US"/>
              <a:t>은 직교 정규다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+</a:t>
            </a:r>
            <a:r>
              <a:rPr lang="el-GR" altLang="ko-KR"/>
              <a:t>τ,+</a:t>
            </a:r>
            <a:r>
              <a:rPr lang="en-US" altLang="ko-KR"/>
              <a:t>h </a:t>
            </a:r>
            <a:r>
              <a:rPr lang="ko-KR" altLang="en-US"/>
              <a:t>생성 격자에 </a:t>
            </a:r>
            <a:r>
              <a:rPr lang="en-US" altLang="ko-KR"/>
              <a:t>cubic </a:t>
            </a:r>
            <a:r>
              <a:rPr lang="ko-KR" altLang="en-US"/>
              <a:t>텐서를 붙일 때 </a:t>
            </a:r>
            <a:r>
              <a:rPr lang="en-US" altLang="ko-KR"/>
              <a:t>plane_basis_in_stacked_cubic_axes</a:t>
            </a:r>
            <a:r>
              <a:rPr lang="ko-KR" altLang="en-US"/>
              <a:t>의 </a:t>
            </a:r>
            <a:r>
              <a:rPr lang="en-US" altLang="ko-KR"/>
              <a:t>rows(−e1,−e2,e3)</a:t>
            </a:r>
            <a:r>
              <a:rPr lang="ko-KR" altLang="en-US"/>
              <a:t>를 사용한다</a:t>
            </a:r>
            <a:r>
              <a:rPr lang="en-US" altLang="ko-KR"/>
              <a:t>. </a:t>
            </a:r>
            <a:r>
              <a:rPr lang="ko-KR" altLang="en-US"/>
              <a:t>생성 원자위치와 </a:t>
            </a:r>
            <a:r>
              <a:rPr lang="en-US" altLang="ko-KR"/>
              <a:t>cubic label</a:t>
            </a:r>
            <a:r>
              <a:rPr lang="ko-KR" altLang="en-US"/>
              <a:t>을 혼동하면 전단 성분 부호가 틀릴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solver_v1/fcc111_geometry.py</a:t>
            </a:r>
          </a:p>
          <a:p>
            <a:r>
              <a:rPr lang="en-US" altLang="ko-KR"/>
              <a:t>solver_v1/FCC111_FULL_STACK_DERIVATION.md</a:t>
            </a:r>
          </a:p>
          <a:p>
            <a:r>
              <a:rPr lang="en-US" altLang="ko-KR"/>
              <a:t>solver_v1/NONLOCAL_INTERFACE_ELASTICITY.md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004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reciprocal shell</a:t>
            </a:r>
            <a:r>
              <a:rPr lang="ko-KR" altLang="en-US"/>
              <a:t>은 </a:t>
            </a:r>
            <a:r>
              <a:rPr lang="en-US" altLang="ko-KR"/>
              <a:t>h²−hk+k²</a:t>
            </a:r>
            <a:r>
              <a:rPr lang="ko-KR" altLang="en-US"/>
              <a:t>가 같은 벡터들이다</a:t>
            </a:r>
            <a:r>
              <a:rPr lang="en-US" altLang="ko-KR"/>
              <a:t>. </a:t>
            </a:r>
            <a:r>
              <a:rPr lang="ko-KR" altLang="en-US"/>
              <a:t>첫 </a:t>
            </a:r>
            <a:r>
              <a:rPr lang="en-US" altLang="ko-KR"/>
              <a:t>shell</a:t>
            </a:r>
            <a:r>
              <a:rPr lang="ko-KR" altLang="en-US"/>
              <a:t>의 </a:t>
            </a:r>
            <a:r>
              <a:rPr lang="en-US" altLang="ko-KR"/>
              <a:t>degeneracy</a:t>
            </a:r>
            <a:r>
              <a:rPr lang="ko-KR" altLang="en-US"/>
              <a:t>는 </a:t>
            </a:r>
            <a:r>
              <a:rPr lang="en-US" altLang="ko-KR"/>
              <a:t>6</a:t>
            </a:r>
            <a:r>
              <a:rPr lang="ko-KR" altLang="en-US"/>
              <a:t>이며 완전한 </a:t>
            </a:r>
            <a:r>
              <a:rPr lang="en-US" altLang="ko-KR"/>
              <a:t>shell</a:t>
            </a:r>
            <a:r>
              <a:rPr lang="ko-KR" altLang="en-US"/>
              <a:t>을 포함해야 대칭이 보존된다</a:t>
            </a:r>
            <a:r>
              <a:rPr lang="en-US" altLang="ko-KR"/>
              <a:t>. D=2 Fourier </a:t>
            </a:r>
            <a:r>
              <a:rPr lang="ko-KR" altLang="en-US"/>
              <a:t>계수는 앞서 유도한 </a:t>
            </a:r>
            <a:r>
              <a:rPr lang="en-US" altLang="ko-KR"/>
              <a:t>K_(p−1) </a:t>
            </a:r>
            <a:r>
              <a:rPr lang="ko-KR" altLang="en-US"/>
              <a:t>식을 사용한다</a:t>
            </a:r>
            <a:r>
              <a:rPr lang="en-US" altLang="ko-KR"/>
              <a:t>. </a:t>
            </a:r>
            <a:r>
              <a:rPr lang="ko-KR" altLang="en-US"/>
              <a:t>지수 밀도는 </a:t>
            </a:r>
            <a:r>
              <a:rPr lang="en-US" altLang="ko-KR"/>
              <a:t>Q=√(κ²+|G|²)</a:t>
            </a:r>
            <a:r>
              <a:rPr lang="ko-KR" altLang="en-US"/>
              <a:t>에 대해 </a:t>
            </a:r>
            <a:r>
              <a:rPr lang="en-US" altLang="ko-KR"/>
              <a:t>ĝ₂D=2πκ exp(−dQ)(dQ+1)/Q³</a:t>
            </a:r>
            <a:r>
              <a:rPr lang="ko-KR" altLang="en-US"/>
              <a:t>이다</a:t>
            </a:r>
            <a:r>
              <a:rPr lang="en-US" altLang="ko-KR"/>
              <a:t>. exp(−κr)/r</a:t>
            </a:r>
            <a:r>
              <a:rPr lang="ko-KR" altLang="en-US"/>
              <a:t>의 </a:t>
            </a:r>
            <a:r>
              <a:rPr lang="en-US" altLang="ko-KR"/>
              <a:t>2π exp(−dQ)/Q</a:t>
            </a:r>
            <a:r>
              <a:rPr lang="ko-KR" altLang="en-US"/>
              <a:t>를 −∂</a:t>
            </a:r>
            <a:r>
              <a:rPr lang="en-US" altLang="ko-KR"/>
              <a:t>κ</a:t>
            </a:r>
            <a:r>
              <a:rPr lang="ko-KR" altLang="en-US"/>
              <a:t>로 미분해 얻는다</a:t>
            </a:r>
            <a:r>
              <a:rPr lang="en-US" altLang="ko-KR"/>
              <a:t>. </a:t>
            </a:r>
            <a:r>
              <a:rPr lang="ko-KR" altLang="en-US"/>
              <a:t>모든 평면</a:t>
            </a:r>
            <a:r>
              <a:rPr lang="en-US" altLang="ko-KR"/>
              <a:t>·</a:t>
            </a:r>
            <a:r>
              <a:rPr lang="ko-KR" altLang="en-US"/>
              <a:t>층의 밀도를 원자별로 합산한 뒤 </a:t>
            </a:r>
            <a:r>
              <a:rPr lang="en-US" altLang="ko-KR"/>
              <a:t>embedding</a:t>
            </a:r>
            <a:r>
              <a:rPr lang="ko-KR" altLang="en-US"/>
              <a:t>을 적용한다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solver_v1/FCC111_FULL_STACK_DERIVATION.md</a:t>
            </a:r>
          </a:p>
          <a:p>
            <a:r>
              <a:rPr lang="en-US" altLang="ko-KR"/>
              <a:t>solver_v1/fcc111_lattice_sum.py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5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양</a:t>
            </a:r>
            <a:r>
              <a:rPr lang="en-US" altLang="ko-KR"/>
              <a:t>·</a:t>
            </a:r>
            <a:r>
              <a:rPr lang="ko-KR" altLang="en-US"/>
              <a:t>음 층의 대칭이 쌍 에너지의 </a:t>
            </a:r>
            <a:r>
              <a:rPr lang="en-US" altLang="ko-KR"/>
              <a:t>1/2</a:t>
            </a:r>
            <a:r>
              <a:rPr lang="ko-KR" altLang="en-US"/>
              <a:t>과 상쇄되어 양의 층 합만 남는다</a:t>
            </a:r>
            <a:r>
              <a:rPr lang="en-US" altLang="ko-KR"/>
              <a:t>. </a:t>
            </a:r>
            <a:r>
              <a:rPr lang="ko-KR" altLang="en-US"/>
              <a:t>동일 평면 항은 </a:t>
            </a:r>
            <a:r>
              <a:rPr lang="en-US" altLang="ko-KR"/>
              <a:t>self</a:t>
            </a:r>
            <a:r>
              <a:rPr lang="ko-KR" altLang="en-US"/>
              <a:t>를 뺀 </a:t>
            </a:r>
            <a:r>
              <a:rPr lang="en-US" altLang="ko-KR"/>
              <a:t>Ztriangle/2</a:t>
            </a:r>
            <a:r>
              <a:rPr lang="ko-KR" altLang="en-US"/>
              <a:t>다</a:t>
            </a:r>
            <a:r>
              <a:rPr lang="en-US" altLang="ko-KR"/>
              <a:t>. </a:t>
            </a:r>
            <a:r>
              <a:rPr lang="ko-KR" altLang="en-US"/>
              <a:t>비영 </a:t>
            </a:r>
            <a:r>
              <a:rPr lang="en-US" altLang="ko-KR"/>
              <a:t>reciprocal </a:t>
            </a:r>
            <a:r>
              <a:rPr lang="ko-KR" altLang="en-US"/>
              <a:t>모드는 </a:t>
            </a:r>
            <a:r>
              <a:rPr lang="en-US" altLang="ko-KR"/>
              <a:t>exp(−ℓa|G|)</a:t>
            </a:r>
            <a:r>
              <a:rPr lang="ko-KR" altLang="en-US"/>
              <a:t>로 감쇠한다</a:t>
            </a:r>
            <a:r>
              <a:rPr lang="en-US" altLang="ko-KR"/>
              <a:t>. homogeneous Δℓ=ℓ(τ+s e_s)</a:t>
            </a:r>
            <a:r>
              <a:rPr lang="ko-KR" altLang="en-US"/>
              <a:t>를 </a:t>
            </a:r>
            <a:r>
              <a:rPr lang="en-US" altLang="ko-KR"/>
              <a:t>local fault</a:t>
            </a:r>
            <a:r>
              <a:rPr lang="ko-KR" altLang="en-US"/>
              <a:t>와 등치하지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solver_v1/FCC111_FULL_STACK_DERIVATION.md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760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전체 층 간격을 동시에 늘리는 </a:t>
            </a:r>
            <a:r>
              <a:rPr lang="en-US" altLang="ko-KR"/>
              <a:t>homogeneous dilation</a:t>
            </a:r>
            <a:r>
              <a:rPr lang="ko-KR" altLang="en-US"/>
              <a:t>과 국소 </a:t>
            </a:r>
            <a:r>
              <a:rPr lang="en-US" altLang="ko-KR"/>
              <a:t>cleavage</a:t>
            </a:r>
            <a:r>
              <a:rPr lang="ko-KR" altLang="en-US"/>
              <a:t>는 다르다</a:t>
            </a:r>
            <a:r>
              <a:rPr lang="en-US" altLang="ko-KR"/>
              <a:t>. full registry</a:t>
            </a:r>
            <a:r>
              <a:rPr lang="ko-KR" altLang="en-US"/>
              <a:t>는 두 성분이며 </a:t>
            </a:r>
            <a:r>
              <a:rPr lang="en-US" altLang="ko-KR"/>
              <a:t>direct110</a:t>
            </a:r>
            <a:r>
              <a:rPr lang="ko-KR" altLang="en-US"/>
              <a:t>와 </a:t>
            </a:r>
            <a:r>
              <a:rPr lang="en-US" altLang="ko-KR"/>
              <a:t>Shockley112 </a:t>
            </a:r>
            <a:r>
              <a:rPr lang="ko-KR" altLang="en-US"/>
              <a:t>경로는 명시적으로 선택한다</a:t>
            </a:r>
            <a:r>
              <a:rPr lang="en-US" altLang="ko-KR"/>
              <a:t>. </a:t>
            </a:r>
            <a:r>
              <a:rPr lang="ko-KR" altLang="en-US"/>
              <a:t>직선 경로의 최대가 </a:t>
            </a:r>
            <a:r>
              <a:rPr lang="en-US" altLang="ko-KR"/>
              <a:t>full-vector index-one saddle</a:t>
            </a:r>
            <a:r>
              <a:rPr lang="ko-KR" altLang="en-US"/>
              <a:t>인지 별도로 확인한다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solver_v1/FCC111_ACTIVE_INTERFACE_DERIVATION.md</a:t>
            </a:r>
          </a:p>
          <a:p>
            <a:r>
              <a:rPr lang="en-US" altLang="ko-KR"/>
              <a:t>solver_v1/VECTOR_REGISTRY_AND_STRENGTH_AUDIT.md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531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동일 반결정 내부 상호작용은 정확히 상쇄된다</a:t>
            </a:r>
            <a:r>
              <a:rPr lang="en-US" altLang="ko-KR"/>
              <a:t>. </a:t>
            </a:r>
            <a:r>
              <a:rPr lang="ko-KR" altLang="en-US"/>
              <a:t>큰 무한 벌크 상수를 수치적으로 빼지 않는다</a:t>
            </a:r>
            <a:r>
              <a:rPr lang="en-US" altLang="ko-KR"/>
              <a:t>. </a:t>
            </a:r>
            <a:r>
              <a:rPr lang="ko-KR" altLang="en-US"/>
              <a:t>평균 모드는 </a:t>
            </a:r>
            <a:r>
              <a:rPr lang="en-US" altLang="ko-KR"/>
              <a:t>Hurwitz zeta</a:t>
            </a:r>
            <a:r>
              <a:rPr lang="ko-KR" altLang="en-US"/>
              <a:t>로 합산하고 </a:t>
            </a:r>
            <a:r>
              <a:rPr lang="en-US" altLang="ko-KR"/>
              <a:t>registry-dependent </a:t>
            </a:r>
            <a:r>
              <a:rPr lang="ko-KR" altLang="en-US"/>
              <a:t>꼬리는 기존 </a:t>
            </a:r>
            <a:r>
              <a:rPr lang="en-US" altLang="ko-KR"/>
              <a:t>reciprocal </a:t>
            </a:r>
            <a:r>
              <a:rPr lang="ko-KR" altLang="en-US"/>
              <a:t>급수로 평가한다</a:t>
            </a:r>
            <a:r>
              <a:rPr lang="en-US" altLang="ko-KR"/>
              <a:t>. </a:t>
            </a:r>
            <a:r>
              <a:rPr lang="ko-KR" altLang="en-US"/>
              <a:t>이 계수 </a:t>
            </a:r>
            <a:r>
              <a:rPr lang="en-US" altLang="ko-KR"/>
              <a:t>k</a:t>
            </a:r>
            <a:r>
              <a:rPr lang="ko-KR" altLang="en-US"/>
              <a:t>를 누락하면 </a:t>
            </a:r>
            <a:r>
              <a:rPr lang="en-US" altLang="ko-KR"/>
              <a:t>cleavage </a:t>
            </a:r>
            <a:r>
              <a:rPr lang="ko-KR" altLang="en-US"/>
              <a:t>정규화가 달라진다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solver_v1/FCC111_ACTIVE_INTERFACE_DERIVATION.md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96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EAM</a:t>
            </a:r>
            <a:r>
              <a:rPr lang="ko-KR" altLang="en-US"/>
              <a:t>은 원자마다 </a:t>
            </a:r>
            <a:r>
              <a:rPr lang="en-US" altLang="ko-KR"/>
              <a:t>F</a:t>
            </a:r>
            <a:r>
              <a:rPr lang="ko-KR" altLang="en-US"/>
              <a:t>를 평가한다</a:t>
            </a:r>
            <a:r>
              <a:rPr lang="en-US" altLang="ko-KR"/>
              <a:t>. </a:t>
            </a:r>
            <a:r>
              <a:rPr lang="ko-KR" altLang="en-US"/>
              <a:t>한 </a:t>
            </a:r>
            <a:r>
              <a:rPr lang="en-US" altLang="ko-KR"/>
              <a:t>global crystal density</a:t>
            </a:r>
            <a:r>
              <a:rPr lang="ko-KR" altLang="en-US"/>
              <a:t>에 </a:t>
            </a:r>
            <a:r>
              <a:rPr lang="en-US" altLang="ko-KR"/>
              <a:t>F</a:t>
            </a:r>
            <a:r>
              <a:rPr lang="ko-KR" altLang="en-US"/>
              <a:t>를 한 번 적용하거나 층별 </a:t>
            </a:r>
            <a:r>
              <a:rPr lang="en-US" altLang="ko-KR"/>
              <a:t>F(ρplane)</a:t>
            </a:r>
            <a:r>
              <a:rPr lang="ko-KR" altLang="en-US"/>
              <a:t>를 합산하면 다른 이론이 된다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scalar </a:t>
            </a:r>
            <a:r>
              <a:rPr lang="ko-KR" altLang="en-US"/>
              <a:t>식에 </a:t>
            </a:r>
            <a:r>
              <a:rPr lang="en-US" altLang="ko-KR"/>
              <a:t>angular </a:t>
            </a:r>
            <a:r>
              <a:rPr lang="ko-KR" altLang="en-US"/>
              <a:t>연구 확장을 더할 때도 각 원자의 전체 </a:t>
            </a:r>
            <a:r>
              <a:rPr lang="en-US" altLang="ko-KR"/>
              <a:t>tensor </a:t>
            </a:r>
            <a:r>
              <a:rPr lang="ko-KR" altLang="en-US"/>
              <a:t>환경 합 뒤에 비선형 함수를 적용한다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solver_v1/FCC111_ACTIVE_INTERFACE_DERIVATION.md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905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STF rank3</a:t>
            </a:r>
            <a:r>
              <a:rPr lang="ko-KR" altLang="en-US"/>
              <a:t>는 </a:t>
            </a:r>
            <a:r>
              <a:rPr lang="en-US" altLang="ko-KR"/>
              <a:t>trace</a:t>
            </a:r>
            <a:r>
              <a:rPr lang="ko-KR" altLang="en-US"/>
              <a:t>가 </a:t>
            </a:r>
            <a:r>
              <a:rPr lang="en-US" altLang="ko-KR"/>
              <a:t>0</a:t>
            </a:r>
            <a:r>
              <a:rPr lang="ko-KR" altLang="en-US"/>
              <a:t>이며 반전에서 부호가 바뀐다</a:t>
            </a:r>
            <a:r>
              <a:rPr lang="en-US" altLang="ko-KR"/>
              <a:t>. </a:t>
            </a:r>
            <a:r>
              <a:rPr lang="ko-KR" altLang="en-US"/>
              <a:t>반전 대칭 </a:t>
            </a:r>
            <a:r>
              <a:rPr lang="en-US" altLang="ko-KR"/>
              <a:t>affine </a:t>
            </a:r>
            <a:r>
              <a:rPr lang="ko-KR" altLang="en-US"/>
              <a:t>벌크의 모든 </a:t>
            </a:r>
            <a:r>
              <a:rPr lang="en-US" altLang="ko-KR"/>
              <a:t>r,−r </a:t>
            </a:r>
            <a:r>
              <a:rPr lang="ko-KR" altLang="en-US"/>
              <a:t>쌍은 상쇄한다</a:t>
            </a:r>
            <a:r>
              <a:rPr lang="en-US" altLang="ko-KR"/>
              <a:t>. </a:t>
            </a:r>
            <a:r>
              <a:rPr lang="ko-KR" altLang="en-US"/>
              <a:t>결함과 표면의 </a:t>
            </a:r>
            <a:r>
              <a:rPr lang="en-US" altLang="ko-KR"/>
              <a:t>odd </a:t>
            </a:r>
            <a:r>
              <a:rPr lang="ko-KR" altLang="en-US"/>
              <a:t>환경은 남을 수 있다</a:t>
            </a:r>
            <a:r>
              <a:rPr lang="en-US" altLang="ko-KR"/>
              <a:t>. </a:t>
            </a:r>
            <a:r>
              <a:rPr lang="ko-KR" altLang="en-US"/>
              <a:t>지수밀도 </a:t>
            </a:r>
            <a:r>
              <a:rPr lang="en-US" altLang="ko-KR"/>
              <a:t>Fourier transform</a:t>
            </a:r>
            <a:r>
              <a:rPr lang="ko-KR" altLang="en-US"/>
              <a:t>의 </a:t>
            </a:r>
            <a:r>
              <a:rPr lang="en-US" altLang="ko-KR"/>
              <a:t>G </a:t>
            </a:r>
            <a:r>
              <a:rPr lang="ko-KR" altLang="en-US"/>
              <a:t>미분으로 무한 </a:t>
            </a:r>
            <a:r>
              <a:rPr lang="en-US" altLang="ko-KR"/>
              <a:t>moment </a:t>
            </a:r>
            <a:r>
              <a:rPr lang="ko-KR" altLang="en-US"/>
              <a:t>합과 좌표 미분을 계산해 </a:t>
            </a:r>
            <a:r>
              <a:rPr lang="en-US" altLang="ko-KR"/>
              <a:t>LJ/Bessel </a:t>
            </a:r>
            <a:r>
              <a:rPr lang="ko-KR" altLang="en-US"/>
              <a:t>틀을 유지한다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solver_v1/ANALYTIC_ANGULAR_ENVIRONMENT.md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8106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I_E</a:t>
            </a:r>
            <a:r>
              <a:rPr lang="ko-KR" altLang="en-US"/>
              <a:t>는 두 기존 </a:t>
            </a:r>
            <a:r>
              <a:rPr lang="en-US" altLang="ko-KR"/>
              <a:t>radial quadrupole</a:t>
            </a:r>
            <a:r>
              <a:rPr lang="ko-KR" altLang="en-US"/>
              <a:t>의 선형 조합으로 </a:t>
            </a:r>
            <a:r>
              <a:rPr lang="en-US" altLang="ko-KR"/>
              <a:t>T2g </a:t>
            </a:r>
            <a:r>
              <a:rPr lang="ko-KR" altLang="en-US"/>
              <a:t>응답을 소거하고 </a:t>
            </a:r>
            <a:r>
              <a:rPr lang="en-US" altLang="ko-KR"/>
              <a:t>Eg </a:t>
            </a:r>
            <a:r>
              <a:rPr lang="ko-KR" altLang="en-US"/>
              <a:t>응답을 분리한 연구 채널이다</a:t>
            </a:r>
            <a:r>
              <a:rPr lang="en-US" altLang="ko-KR"/>
              <a:t>. normalization N2</a:t>
            </a:r>
            <a:r>
              <a:rPr lang="ko-KR" altLang="en-US"/>
              <a:t>는 고정 </a:t>
            </a:r>
            <a:r>
              <a:rPr lang="en-US" altLang="ko-KR"/>
              <a:t>amplitude gauge</a:t>
            </a:r>
            <a:r>
              <a:rPr lang="ko-KR" altLang="en-US"/>
              <a:t>이며 </a:t>
            </a:r>
            <a:r>
              <a:rPr lang="en-US" altLang="ko-KR"/>
              <a:t>specimen </a:t>
            </a:r>
            <a:r>
              <a:rPr lang="ko-KR" altLang="en-US"/>
              <a:t>면적</a:t>
            </a:r>
            <a:r>
              <a:rPr lang="en-US" altLang="ko-KR"/>
              <a:t>/</a:t>
            </a:r>
            <a:r>
              <a:rPr lang="ko-KR" altLang="en-US"/>
              <a:t>길이가 아니다</a:t>
            </a:r>
            <a:r>
              <a:rPr lang="en-US" altLang="ko-KR"/>
              <a:t>. </a:t>
            </a:r>
            <a:r>
              <a:rPr lang="ko-KR" altLang="en-US"/>
              <a:t>채널별 정규화는 코드와 동일하게 적용한다</a:t>
            </a:r>
            <a:r>
              <a:rPr lang="en-US" altLang="ko-KR"/>
              <a:t>. K3</a:t>
            </a:r>
            <a:r>
              <a:rPr lang="ko-KR" altLang="en-US"/>
              <a:t>는 </a:t>
            </a:r>
            <a:r>
              <a:rPr lang="en-US" altLang="ko-KR"/>
              <a:t>pristine harmonic </a:t>
            </a:r>
            <a:r>
              <a:rPr lang="ko-KR" altLang="en-US"/>
              <a:t>자료만으로 식별되지 않는다</a:t>
            </a:r>
            <a:r>
              <a:rPr lang="en-US" altLang="ko-KR"/>
              <a:t>. </a:t>
            </a:r>
            <a:r>
              <a:rPr lang="ko-KR" altLang="en-US"/>
              <a:t>여기의 양의 계수</a:t>
            </a:r>
            <a:r>
              <a:rPr lang="en-US" altLang="ko-KR"/>
              <a:t>·</a:t>
            </a:r>
            <a:r>
              <a:rPr lang="ko-KR" altLang="en-US"/>
              <a:t>포화형 가정은 연구 가설이며 검증된 </a:t>
            </a:r>
            <a:r>
              <a:rPr lang="en-US" altLang="ko-KR"/>
              <a:t>Al </a:t>
            </a:r>
            <a:r>
              <a:rPr lang="ko-KR" altLang="en-US"/>
              <a:t>퍼텐셜이라는 뜻이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solver_v1/vector_material_calibration.py</a:t>
            </a:r>
          </a:p>
          <a:p>
            <a:r>
              <a:rPr lang="en-US" altLang="ko-KR"/>
              <a:t>solver_v1/symmetry_resolved_material.py</a:t>
            </a:r>
          </a:p>
          <a:p>
            <a:r>
              <a:rPr lang="en-US" altLang="ko-KR"/>
              <a:t>solver_v1/quadrupole_saturation.py</a:t>
            </a:r>
          </a:p>
          <a:p>
            <a:r>
              <a:rPr lang="en-US" altLang="ko-KR"/>
              <a:t>solver_v1/coordination_screening.py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653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식은 에너지</a:t>
            </a:r>
            <a:r>
              <a:rPr lang="en-US" altLang="ko-KR"/>
              <a:t>/</a:t>
            </a:r>
            <a:r>
              <a:rPr lang="ko-KR" altLang="en-US"/>
              <a:t>원자 계면 셀로 정규화한 활성 계면의 물리적 </a:t>
            </a:r>
            <a:r>
              <a:rPr lang="en-US" altLang="ko-KR"/>
              <a:t>traction work</a:t>
            </a:r>
            <a:r>
              <a:rPr lang="ko-KR" altLang="en-US"/>
              <a:t>다</a:t>
            </a:r>
            <a:r>
              <a:rPr lang="en-US" altLang="ko-KR"/>
              <a:t>. </a:t>
            </a:r>
            <a:r>
              <a:rPr lang="ko-KR" altLang="en-US"/>
              <a:t>기존 </a:t>
            </a:r>
            <a:r>
              <a:rPr lang="en-US" altLang="ko-KR"/>
              <a:t>two-row PDE</a:t>
            </a:r>
            <a:r>
              <a:rPr lang="ko-KR" altLang="en-US"/>
              <a:t>의 </a:t>
            </a:r>
            <a:r>
              <a:rPr lang="en-US" altLang="ko-KR"/>
              <a:t>f*=kappa sigma/E </a:t>
            </a:r>
            <a:r>
              <a:rPr lang="ko-KR" altLang="en-US"/>
              <a:t>매핑을 </a:t>
            </a:r>
            <a:r>
              <a:rPr lang="en-US" altLang="ko-KR"/>
              <a:t>σA</a:t>
            </a:r>
            <a:r>
              <a:rPr lang="ko-KR" altLang="en-US"/>
              <a:t>로 바꾸라는 뜻이 아니다</a:t>
            </a:r>
            <a:r>
              <a:rPr lang="en-US" altLang="ko-KR"/>
              <a:t>. </a:t>
            </a:r>
            <a:r>
              <a:rPr lang="ko-KR" altLang="en-US"/>
              <a:t>동일한 외부 일을 서로 다른 에너지</a:t>
            </a:r>
            <a:r>
              <a:rPr lang="en-US" altLang="ko-KR"/>
              <a:t>/</a:t>
            </a:r>
            <a:r>
              <a:rPr lang="ko-KR" altLang="en-US"/>
              <a:t>좌표 정규화에 맞추어 유도해야 한다</a:t>
            </a:r>
            <a:r>
              <a:rPr lang="en-US" altLang="ko-KR"/>
              <a:t>. A_atomic</a:t>
            </a:r>
            <a:r>
              <a:rPr lang="ko-KR" altLang="en-US"/>
              <a:t>과 통계적 </a:t>
            </a:r>
            <a:r>
              <a:rPr lang="en-US" altLang="ko-KR"/>
              <a:t>A_c</a:t>
            </a:r>
            <a:r>
              <a:rPr lang="ko-KR" altLang="en-US"/>
              <a:t>는 완전히 분리한다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solver_v1/FCC111_ACTIVE_INTERFACE_DERIVATION.md</a:t>
            </a:r>
          </a:p>
          <a:p>
            <a:r>
              <a:rPr lang="en-US" altLang="ko-KR"/>
              <a:t>solver_v1/KINETICS_LOADING_AND_STRESS_AUDIT.md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19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원래 </a:t>
            </a:r>
            <a:r>
              <a:rPr lang="en-US" altLang="ko-KR"/>
              <a:t>TwoRowLJ</a:t>
            </a:r>
            <a:r>
              <a:rPr lang="ko-KR" altLang="en-US"/>
              <a:t>의 </a:t>
            </a:r>
            <a:r>
              <a:rPr lang="en-US" altLang="ko-KR"/>
              <a:t>a0=.7713438268704838, chi=.2</a:t>
            </a:r>
            <a:r>
              <a:rPr lang="ko-KR" altLang="en-US"/>
              <a:t>에서 </a:t>
            </a:r>
            <a:r>
              <a:rPr lang="en-US" altLang="ko-KR"/>
              <a:t>kappa=86.29296488740997</a:t>
            </a:r>
            <a:r>
              <a:rPr lang="ko-KR" altLang="en-US"/>
              <a:t>을 보존한다</a:t>
            </a:r>
            <a:r>
              <a:rPr lang="en-US" altLang="ko-KR"/>
              <a:t>. finite-frequency </a:t>
            </a:r>
            <a:r>
              <a:rPr lang="ko-KR" altLang="en-US"/>
              <a:t>응답을 따라가게 하려고 </a:t>
            </a:r>
            <a:r>
              <a:rPr lang="en-US" altLang="ko-KR"/>
              <a:t>kappa</a:t>
            </a:r>
            <a:r>
              <a:rPr lang="ko-KR" altLang="en-US"/>
              <a:t>를 조절하지 않는다</a:t>
            </a:r>
            <a:r>
              <a:rPr lang="en-US" altLang="ko-KR"/>
              <a:t>. chi</a:t>
            </a:r>
            <a:r>
              <a:rPr lang="ko-KR" altLang="en-US"/>
              <a:t>의 결정학 후보는 </a:t>
            </a:r>
            <a:r>
              <a:rPr lang="en-US" altLang="ko-KR"/>
              <a:t>(a0/h)(e·m)(e·n)</a:t>
            </a:r>
            <a:r>
              <a:rPr lang="ko-KR" altLang="en-US"/>
              <a:t>이며 물리 좌표 대응이 확인되어야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solver_v1/DYNAMICS_FAST_A_DIAGNOSTICS.md</a:t>
            </a:r>
          </a:p>
          <a:p>
            <a:r>
              <a:rPr lang="en-US" altLang="ko-KR"/>
              <a:t>solver_v1/CONFIGURATIONAL_PLASTICITY.md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014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θ</a:t>
            </a:r>
            <a:r>
              <a:rPr lang="ko-KR" altLang="en-US"/>
              <a:t>는 사용한 에너지 단위에서의 </a:t>
            </a:r>
            <a:r>
              <a:rPr lang="en-US" altLang="ko-KR"/>
              <a:t>kBT</a:t>
            </a:r>
            <a:r>
              <a:rPr lang="ko-KR" altLang="en-US"/>
              <a:t>다</a:t>
            </a:r>
            <a:r>
              <a:rPr lang="en-US" altLang="ko-KR"/>
              <a:t>. </a:t>
            </a:r>
            <a:r>
              <a:rPr lang="ko-KR" altLang="en-US"/>
              <a:t>생산 모델의 일정 </a:t>
            </a:r>
            <a:r>
              <a:rPr lang="en-US" altLang="ko-KR"/>
              <a:t>diagonal mobility</a:t>
            </a:r>
            <a:r>
              <a:rPr lang="ko-KR" altLang="en-US"/>
              <a:t>는 모델 가정이며 원자적 모든 주파수에서의 정확한 운동방정식이라고 주장하지 않는다</a:t>
            </a:r>
            <a:r>
              <a:rPr lang="en-US" altLang="ko-KR"/>
              <a:t>. </a:t>
            </a:r>
            <a:r>
              <a:rPr lang="ko-KR" altLang="en-US"/>
              <a:t>국소 평형과 빠른 운동량 소거를 확인해야 한다</a:t>
            </a:r>
            <a:r>
              <a:rPr lang="en-US" altLang="ko-KR"/>
              <a:t>. reference MD</a:t>
            </a:r>
            <a:r>
              <a:rPr lang="ko-KR" altLang="en-US"/>
              <a:t>는 그 검증 데이터 생성 경로이며 생산 </a:t>
            </a:r>
            <a:r>
              <a:rPr lang="en-US" altLang="ko-KR"/>
              <a:t>PDE</a:t>
            </a:r>
            <a:r>
              <a:rPr lang="ko-KR" altLang="en-US"/>
              <a:t>를 </a:t>
            </a:r>
            <a:r>
              <a:rPr lang="en-US" altLang="ko-KR"/>
              <a:t>Newtonian MD</a:t>
            </a:r>
            <a:r>
              <a:rPr lang="ko-KR" altLang="en-US"/>
              <a:t>로 교체하지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solver_v1/probability_pde_2d.py</a:t>
            </a:r>
          </a:p>
          <a:p>
            <a:r>
              <a:rPr lang="en-US" altLang="ko-KR"/>
              <a:t>solver_v1/PHYSICAL_TIME_AND_MOBILITY.md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595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∇</a:t>
            </a:r>
            <a:r>
              <a:rPr lang="en-US" altLang="ko-KR"/>
              <a:t>μ=∇G+θ∇lnP</a:t>
            </a:r>
            <a:r>
              <a:rPr lang="ko-KR" altLang="en-US"/>
              <a:t>를 대입하고 부분적분하면 위 식을 얻는다</a:t>
            </a:r>
            <a:r>
              <a:rPr lang="en-US" altLang="ko-KR"/>
              <a:t>. </a:t>
            </a:r>
            <a:r>
              <a:rPr lang="ko-KR" altLang="en-US"/>
              <a:t>흡수</a:t>
            </a:r>
            <a:r>
              <a:rPr lang="en-US" altLang="ko-KR"/>
              <a:t>/</a:t>
            </a:r>
            <a:r>
              <a:rPr lang="ko-KR" altLang="en-US"/>
              <a:t>이동 경계에서는 경계 항이 더 필요하다</a:t>
            </a:r>
            <a:r>
              <a:rPr lang="en-US" altLang="ko-KR"/>
              <a:t>. </a:t>
            </a:r>
            <a:r>
              <a:rPr lang="ko-KR" altLang="en-US"/>
              <a:t>정상 주기</a:t>
            </a:r>
            <a:r>
              <a:rPr lang="en-US" altLang="ko-KR"/>
              <a:t>, </a:t>
            </a:r>
            <a:r>
              <a:rPr lang="ko-KR" altLang="en-US"/>
              <a:t>질량 보존</a:t>
            </a:r>
            <a:r>
              <a:rPr lang="en-US" altLang="ko-KR"/>
              <a:t>, </a:t>
            </a:r>
            <a:r>
              <a:rPr lang="ko-KR" altLang="en-US"/>
              <a:t>일관된 </a:t>
            </a:r>
            <a:r>
              <a:rPr lang="en-US" altLang="ko-KR"/>
              <a:t>conjugate work</a:t>
            </a:r>
            <a:r>
              <a:rPr lang="ko-KR" altLang="en-US"/>
              <a:t>일 때만 한 주기의 입력 일이 소산과 같다</a:t>
            </a:r>
            <a:r>
              <a:rPr lang="en-US" altLang="ko-KR"/>
              <a:t>. </a:t>
            </a:r>
            <a:r>
              <a:rPr lang="ko-KR" altLang="en-US"/>
              <a:t>누적 소산 자체를 임의 균열 임계값으로 쓰지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solver_v1/probability_pde_2d.py</a:t>
            </a:r>
          </a:p>
          <a:p>
            <a:r>
              <a:rPr lang="en-US" altLang="ko-KR"/>
              <a:t>solver_v1/CONFIGURATIONAL_PLASTICITY.md</a:t>
            </a:r>
          </a:p>
          <a:p>
            <a:r>
              <a:rPr lang="en-US" altLang="ko-KR"/>
              <a:t>solver_v1/INTERNAL_STEP_WORK_V30.md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918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B(−Δ)=exp(Δ)B(Δ)</a:t>
            </a:r>
            <a:r>
              <a:rPr lang="ko-KR" altLang="en-US"/>
              <a:t>이므로 이산 </a:t>
            </a:r>
            <a:r>
              <a:rPr lang="en-US" altLang="ko-KR"/>
              <a:t>Gibbs </a:t>
            </a:r>
            <a:r>
              <a:rPr lang="ko-KR" altLang="en-US"/>
              <a:t>정지분포를 보존한다</a:t>
            </a:r>
            <a:r>
              <a:rPr lang="en-US" altLang="ko-KR"/>
              <a:t>. Δ≈0</a:t>
            </a:r>
            <a:r>
              <a:rPr lang="ko-KR" altLang="en-US"/>
              <a:t>에서 </a:t>
            </a:r>
            <a:r>
              <a:rPr lang="en-US" altLang="ko-KR"/>
              <a:t>expm1 </a:t>
            </a:r>
            <a:r>
              <a:rPr lang="ko-KR" altLang="en-US"/>
              <a:t>또는 급수로 </a:t>
            </a:r>
            <a:r>
              <a:rPr lang="en-US" altLang="ko-KR"/>
              <a:t>B</a:t>
            </a:r>
            <a:r>
              <a:rPr lang="ko-KR" altLang="en-US"/>
              <a:t>를 안정 계산한다</a:t>
            </a:r>
            <a:r>
              <a:rPr lang="en-US" altLang="ko-KR"/>
              <a:t>. positivity, </a:t>
            </a:r>
            <a:r>
              <a:rPr lang="ko-KR" altLang="en-US"/>
              <a:t>질량잔차</a:t>
            </a:r>
            <a:r>
              <a:rPr lang="en-US" altLang="ko-KR"/>
              <a:t>, dt/</a:t>
            </a:r>
            <a:r>
              <a:rPr lang="ko-KR" altLang="en-US"/>
              <a:t>격자 수렴을 독립 검증한다</a:t>
            </a:r>
            <a:r>
              <a:rPr lang="en-US" altLang="ko-KR"/>
              <a:t>. </a:t>
            </a:r>
            <a:r>
              <a:rPr lang="ko-KR" altLang="en-US"/>
              <a:t>작은 음수 보정은 개구 흡수로 합산하지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solver_v1/probability_pde_2d.py</a:t>
            </a:r>
          </a:p>
          <a:p>
            <a:r>
              <a:rPr lang="en-US" altLang="ko-KR"/>
              <a:t>solver_v1/RESULT_FIELDS.md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870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정확한 연속 해에서 </a:t>
            </a:r>
            <a:r>
              <a:rPr lang="en-US" altLang="ko-KR"/>
              <a:t>Mraw=Slocal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수치상 차이는 </a:t>
            </a:r>
            <a:r>
              <a:rPr lang="en-US" altLang="ko-KR"/>
              <a:t>mass residual</a:t>
            </a:r>
            <a:r>
              <a:rPr lang="ko-KR" altLang="en-US"/>
              <a:t>이며 조건부 평균 분모는 실제 </a:t>
            </a:r>
            <a:r>
              <a:rPr lang="en-US" altLang="ko-KR"/>
              <a:t>surviving density</a:t>
            </a:r>
            <a:r>
              <a:rPr lang="ko-KR" altLang="en-US"/>
              <a:t>의 적분을 쓴다</a:t>
            </a:r>
            <a:r>
              <a:rPr lang="en-US" altLang="ko-KR"/>
              <a:t>. </a:t>
            </a:r>
            <a:r>
              <a:rPr lang="ko-KR" altLang="en-US"/>
              <a:t>생존 질량이 소진되면 조건부 평균은 정의되지 않는다</a:t>
            </a:r>
            <a:r>
              <a:rPr lang="en-US" altLang="ko-KR"/>
              <a:t>. n/xi </a:t>
            </a:r>
            <a:r>
              <a:rPr lang="ko-KR" altLang="en-US"/>
              <a:t>반열린 경계 규약과 음수 </a:t>
            </a:r>
            <a:r>
              <a:rPr lang="en-US" altLang="ko-KR"/>
              <a:t>s indexing</a:t>
            </a:r>
            <a:r>
              <a:rPr lang="ko-KR" altLang="en-US"/>
              <a:t>을 보존한다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solver_v1/CONFIGURATIONAL_PLASTICITY.md</a:t>
            </a:r>
          </a:p>
          <a:p>
            <a:r>
              <a:rPr lang="en-US" altLang="ko-KR"/>
              <a:t>solver_v1/PLASTICITY_AND_STRAIN_AUDIT.md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30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SG</a:t>
            </a:r>
            <a:r>
              <a:rPr lang="ko-KR" altLang="en-US"/>
              <a:t>의 한쪽률 분해는 정확한 이산 진단이다</a:t>
            </a:r>
            <a:r>
              <a:rPr lang="en-US" altLang="ko-KR"/>
              <a:t>. gross</a:t>
            </a:r>
            <a:r>
              <a:rPr lang="ko-KR" altLang="en-US"/>
              <a:t>는 </a:t>
            </a:r>
            <a:r>
              <a:rPr lang="en-US" altLang="ko-KR"/>
              <a:t>|net|</a:t>
            </a:r>
            <a:r>
              <a:rPr lang="ko-KR" altLang="en-US"/>
              <a:t>이 아니다</a:t>
            </a:r>
            <a:r>
              <a:rPr lang="en-US" altLang="ko-KR"/>
              <a:t>. </a:t>
            </a:r>
            <a:r>
              <a:rPr lang="ko-KR" altLang="en-US"/>
              <a:t>단</a:t>
            </a:r>
            <a:r>
              <a:rPr lang="en-US" altLang="ko-KR"/>
              <a:t>, </a:t>
            </a:r>
            <a:r>
              <a:rPr lang="ko-KR" altLang="en-US"/>
              <a:t>격자 경계의 확산 </a:t>
            </a:r>
            <a:r>
              <a:rPr lang="en-US" altLang="ko-KR"/>
              <a:t>recrossing</a:t>
            </a:r>
            <a:r>
              <a:rPr lang="ko-KR" altLang="en-US"/>
              <a:t>으로 </a:t>
            </a:r>
            <a:r>
              <a:rPr lang="en-US" altLang="ko-KR"/>
              <a:t>SG gross</a:t>
            </a:r>
            <a:r>
              <a:rPr lang="ko-KR" altLang="en-US"/>
              <a:t>는 대략 </a:t>
            </a:r>
            <a:r>
              <a:rPr lang="en-US" altLang="ko-KR"/>
              <a:t>1/</a:t>
            </a:r>
            <a:r>
              <a:rPr lang="el-GR" altLang="ko-KR"/>
              <a:t>Δ</a:t>
            </a:r>
            <a:r>
              <a:rPr lang="en-US" altLang="ko-KR"/>
              <a:t>s</a:t>
            </a:r>
            <a:r>
              <a:rPr lang="ko-KR" altLang="en-US"/>
              <a:t>에 의존하므로 </a:t>
            </a:r>
            <a:r>
              <a:rPr lang="en-US" altLang="ko-KR"/>
              <a:t>mesh-independent committed hopping count</a:t>
            </a:r>
            <a:r>
              <a:rPr lang="ko-KR" altLang="en-US"/>
              <a:t>로 해석하지 않는다</a:t>
            </a:r>
            <a:r>
              <a:rPr lang="en-US" altLang="ko-KR"/>
              <a:t>. </a:t>
            </a:r>
            <a:r>
              <a:rPr lang="ko-KR" altLang="en-US"/>
              <a:t>물리 전이 횟수에는 </a:t>
            </a:r>
            <a:r>
              <a:rPr lang="en-US" altLang="ko-KR"/>
              <a:t>well core/committor </a:t>
            </a:r>
            <a:r>
              <a:rPr lang="ko-KR" altLang="en-US"/>
              <a:t>정의가 추가로 필요하다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solver_v1/CONFIGURATIONAL_PLASTICITY.md</a:t>
            </a:r>
          </a:p>
          <a:p>
            <a:r>
              <a:rPr lang="en-US" altLang="ko-KR"/>
              <a:t>AGENTS.md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6310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연속 질량 균형 </a:t>
            </a:r>
            <a:r>
              <a:rPr lang="en-US" altLang="ko-KR"/>
              <a:t>Sdot=−ΣȦn</a:t>
            </a:r>
            <a:r>
              <a:rPr lang="ko-KR" altLang="en-US"/>
              <a:t>을 사용해 조건부 평균의 미분을 전개한 식이다</a:t>
            </a:r>
            <a:r>
              <a:rPr lang="en-US" altLang="ko-KR"/>
              <a:t>. </a:t>
            </a:r>
            <a:r>
              <a:rPr lang="ko-KR" altLang="en-US"/>
              <a:t>개구 항을 </a:t>
            </a:r>
            <a:r>
              <a:rPr lang="en-US" altLang="ko-KR"/>
              <a:t>plastic-flow</a:t>
            </a:r>
            <a:r>
              <a:rPr lang="ko-KR" altLang="en-US"/>
              <a:t>로 부르면 선택적으로 살아남는 집단의 변화를 소성으로 오인한다</a:t>
            </a:r>
            <a:r>
              <a:rPr lang="en-US" altLang="ko-KR"/>
              <a:t>. </a:t>
            </a:r>
            <a:r>
              <a:rPr lang="ko-KR" altLang="en-US"/>
              <a:t>반사 </a:t>
            </a:r>
            <a:r>
              <a:rPr lang="en-US" altLang="ko-KR"/>
              <a:t>outer s boundary </a:t>
            </a:r>
            <a:r>
              <a:rPr lang="ko-KR" altLang="en-US"/>
              <a:t>가정이며 </a:t>
            </a:r>
            <a:r>
              <a:rPr lang="en-US" altLang="ko-KR"/>
              <a:t>open outer boundary</a:t>
            </a:r>
            <a:r>
              <a:rPr lang="ko-KR" altLang="en-US"/>
              <a:t>가 있으면 추가항을 명시한다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solver_v1/CONFIGURATIONAL_PLASTICITY.md</a:t>
            </a:r>
          </a:p>
          <a:p>
            <a:r>
              <a:rPr lang="en-US" altLang="ko-KR"/>
              <a:t>solver_v1/PLASTICITY_AND_STRAIN_AUDIT.md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7712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이동 </a:t>
            </a:r>
            <a:r>
              <a:rPr lang="en-US" altLang="ko-KR"/>
              <a:t>dividing surface</a:t>
            </a:r>
            <a:r>
              <a:rPr lang="ko-KR" altLang="en-US"/>
              <a:t>에서는 상대 경계 </a:t>
            </a:r>
            <a:r>
              <a:rPr lang="en-US" altLang="ko-KR"/>
              <a:t>flux </a:t>
            </a:r>
            <a:r>
              <a:rPr lang="ko-KR" altLang="en-US"/>
              <a:t>또는 </a:t>
            </a:r>
            <a:r>
              <a:rPr lang="en-US" altLang="ko-KR"/>
              <a:t>swept mass</a:t>
            </a:r>
            <a:r>
              <a:rPr lang="ko-KR" altLang="en-US"/>
              <a:t>를 일관되게 계산한다</a:t>
            </a:r>
            <a:r>
              <a:rPr lang="en-US" altLang="ko-KR"/>
              <a:t>. raw 1−Mraw</a:t>
            </a:r>
            <a:r>
              <a:rPr lang="ko-KR" altLang="en-US"/>
              <a:t>는 반올림 잔차를 포함할 수 있으므로 </a:t>
            </a:r>
            <a:r>
              <a:rPr lang="en-US" altLang="ko-KR"/>
              <a:t>canonical physical probability</a:t>
            </a:r>
            <a:r>
              <a:rPr lang="ko-KR" altLang="en-US"/>
              <a:t>로 쓰지 않는다</a:t>
            </a:r>
            <a:r>
              <a:rPr lang="en-US" altLang="ko-KR"/>
              <a:t>. </a:t>
            </a:r>
            <a:r>
              <a:rPr lang="el-GR" altLang="ko-KR"/>
              <a:t>Ω</a:t>
            </a:r>
            <a:r>
              <a:rPr lang="en-US" altLang="ko-KR"/>
              <a:t>init</a:t>
            </a:r>
            <a:r>
              <a:rPr lang="ko-KR" altLang="en-US"/>
              <a:t>의 순간 점유나 </a:t>
            </a:r>
            <a:r>
              <a:rPr lang="en-US" altLang="ko-KR"/>
              <a:t>Dacc </a:t>
            </a:r>
            <a:r>
              <a:rPr lang="ko-KR" altLang="en-US"/>
              <a:t>임계값은 현재 </a:t>
            </a:r>
            <a:r>
              <a:rPr lang="en-US" altLang="ko-KR"/>
              <a:t>opening first-passage </a:t>
            </a:r>
            <a:r>
              <a:rPr lang="ko-KR" altLang="en-US"/>
              <a:t>정의와 다르다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solver_v1/RESULT_FIELDS.md</a:t>
            </a:r>
          </a:p>
          <a:p>
            <a:r>
              <a:rPr lang="en-US" altLang="ko-KR"/>
              <a:t>solver_v1/PROBABILITY_AND_PLASTICITY_RESOLUTION.md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052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느린 시간에서 </a:t>
            </a:r>
            <a:r>
              <a:rPr lang="en-US" altLang="ko-KR"/>
              <a:t>Ma/Ms→∞</a:t>
            </a:r>
            <a:r>
              <a:rPr lang="ko-KR" altLang="en-US"/>
              <a:t>의 선도해다</a:t>
            </a:r>
            <a:r>
              <a:rPr lang="en-US" altLang="ko-KR"/>
              <a:t>. </a:t>
            </a:r>
            <a:r>
              <a:rPr lang="ko-KR" altLang="en-US"/>
              <a:t>임의 </a:t>
            </a:r>
            <a:r>
              <a:rPr lang="en-US" altLang="ko-KR"/>
              <a:t>Ma </a:t>
            </a:r>
            <a:r>
              <a:rPr lang="ko-KR" altLang="en-US"/>
              <a:t>조정이나 </a:t>
            </a:r>
            <a:r>
              <a:rPr lang="en-US" altLang="ko-KR"/>
              <a:t>a* delta </a:t>
            </a:r>
            <a:r>
              <a:rPr lang="ko-KR" altLang="en-US"/>
              <a:t>가정으로 시작하지 않는다</a:t>
            </a:r>
            <a:r>
              <a:rPr lang="en-US" altLang="ko-KR"/>
              <a:t>. </a:t>
            </a:r>
            <a:r>
              <a:rPr lang="ko-KR" altLang="en-US"/>
              <a:t>저온에서는 </a:t>
            </a:r>
            <a:r>
              <a:rPr lang="en-US" altLang="ko-KR"/>
              <a:t>ℱeff≈G(a*,s)+(θ/2)ln[Gaa(a*,s)/(2πθ)]</a:t>
            </a:r>
            <a:r>
              <a:rPr lang="ko-KR" altLang="en-US"/>
              <a:t>이며 </a:t>
            </a:r>
            <a:r>
              <a:rPr lang="en-US" altLang="ko-KR"/>
              <a:t>integration measure</a:t>
            </a:r>
            <a:r>
              <a:rPr lang="ko-KR" altLang="en-US"/>
              <a:t>의 단위를 고정해야 한다</a:t>
            </a:r>
            <a:r>
              <a:rPr lang="en-US" altLang="ko-KR"/>
              <a:t>. </a:t>
            </a:r>
            <a:r>
              <a:rPr lang="ko-KR" altLang="en-US"/>
              <a:t>축약된 정상 변형률에는 </a:t>
            </a:r>
            <a:r>
              <a:rPr lang="en-US" altLang="ko-KR"/>
              <a:t>a* </a:t>
            </a:r>
            <a:r>
              <a:rPr lang="ko-KR" altLang="en-US"/>
              <a:t>대신 </a:t>
            </a:r>
            <a:r>
              <a:rPr lang="en-US" altLang="ko-KR"/>
              <a:t>conditional ⟨a⟩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solver_v1/FAST_A_REDUCTION.md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24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Ga(U)=0</a:t>
            </a:r>
            <a:r>
              <a:rPr lang="ko-KR" altLang="en-US"/>
              <a:t>이라는 </a:t>
            </a:r>
            <a:r>
              <a:rPr lang="en-US" altLang="ko-KR"/>
              <a:t>saddle </a:t>
            </a:r>
            <a:r>
              <a:rPr lang="ko-KR" altLang="en-US"/>
              <a:t>조건은 </a:t>
            </a:r>
            <a:r>
              <a:rPr lang="en-US" altLang="ko-KR"/>
              <a:t>Leibniz </a:t>
            </a:r>
            <a:r>
              <a:rPr lang="ko-KR" altLang="en-US"/>
              <a:t>경계항을 </a:t>
            </a:r>
            <a:r>
              <a:rPr lang="en-US" altLang="ko-KR"/>
              <a:t>0</a:t>
            </a:r>
            <a:r>
              <a:rPr lang="ko-KR" altLang="en-US"/>
              <a:t>으로 만들지 않는다</a:t>
            </a:r>
            <a:r>
              <a:rPr lang="en-US" altLang="ko-KR"/>
              <a:t>. </a:t>
            </a:r>
            <a:r>
              <a:rPr lang="ko-KR" altLang="en-US"/>
              <a:t>흡수 연산자에는 정상적인 영 고유값 </a:t>
            </a:r>
            <a:r>
              <a:rPr lang="en-US" altLang="ko-KR"/>
              <a:t>Gibbs </a:t>
            </a:r>
            <a:r>
              <a:rPr lang="ko-KR" altLang="en-US"/>
              <a:t>상태가 없다</a:t>
            </a:r>
            <a:r>
              <a:rPr lang="en-US" altLang="ko-KR"/>
              <a:t>. </a:t>
            </a:r>
            <a:r>
              <a:rPr lang="ko-KR" altLang="en-US"/>
              <a:t>단순히 </a:t>
            </a:r>
            <a:r>
              <a:rPr lang="en-US" altLang="ko-KR"/>
              <a:t>Ma→∞</a:t>
            </a:r>
            <a:r>
              <a:rPr lang="ko-KR" altLang="en-US"/>
              <a:t>로 보내면 </a:t>
            </a:r>
            <a:r>
              <a:rPr lang="en-US" altLang="ko-KR"/>
              <a:t>escape</a:t>
            </a:r>
            <a:r>
              <a:rPr lang="ko-KR" altLang="en-US"/>
              <a:t>도 빨라지므로 희귀 탈출</a:t>
            </a:r>
            <a:r>
              <a:rPr lang="en-US" altLang="ko-KR"/>
              <a:t>/</a:t>
            </a:r>
            <a:r>
              <a:rPr lang="ko-KR" altLang="en-US"/>
              <a:t>혼합시간의 분리가 필요하다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reduced crack probability</a:t>
            </a:r>
            <a:r>
              <a:rPr lang="ko-KR" altLang="en-US"/>
              <a:t>는 생산 검증을 통과하지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solver_v1/FAST_A_REDUCTION.md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675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</a:t>
            </a:r>
            <a:r>
              <a:rPr lang="ko-KR" altLang="en-US"/>
              <a:t>은 대칭이므로 </a:t>
            </a:r>
            <a:r>
              <a:rPr lang="en-US" altLang="ko-KR"/>
              <a:t>positive definite H</a:t>
            </a:r>
            <a:r>
              <a:rPr lang="ko-KR" altLang="en-US"/>
              <a:t>와</a:t>
            </a:r>
            <a:r>
              <a:rPr lang="en-US" altLang="ko-KR"/>
              <a:t>M</a:t>
            </a:r>
            <a:r>
              <a:rPr lang="ko-KR" altLang="en-US"/>
              <a:t>에 대해 양의 </a:t>
            </a:r>
            <a:r>
              <a:rPr lang="en-US" altLang="ko-KR"/>
              <a:t>relaxation rates</a:t>
            </a:r>
            <a:r>
              <a:rPr lang="ko-KR" altLang="en-US"/>
              <a:t>를 준다</a:t>
            </a:r>
            <a:r>
              <a:rPr lang="en-US" altLang="ko-KR"/>
              <a:t>. Was</a:t>
            </a:r>
            <a:r>
              <a:rPr lang="ko-KR" altLang="en-US"/>
              <a:t>가 </a:t>
            </a:r>
            <a:r>
              <a:rPr lang="en-US" altLang="ko-KR"/>
              <a:t>0</a:t>
            </a:r>
            <a:r>
              <a:rPr lang="ko-KR" altLang="en-US"/>
              <a:t>이 아니면 </a:t>
            </a:r>
            <a:r>
              <a:rPr lang="en-US" altLang="ko-KR"/>
              <a:t>eigenvector</a:t>
            </a:r>
            <a:r>
              <a:rPr lang="ko-KR" altLang="en-US"/>
              <a:t>를 순수 </a:t>
            </a:r>
            <a:r>
              <a:rPr lang="en-US" altLang="ko-KR"/>
              <a:t>a/s</a:t>
            </a:r>
            <a:r>
              <a:rPr lang="ko-KR" altLang="en-US"/>
              <a:t>로 가정하지 않는다</a:t>
            </a:r>
            <a:r>
              <a:rPr lang="en-US" altLang="ko-KR"/>
              <a:t>. </a:t>
            </a:r>
            <a:r>
              <a:rPr lang="ko-KR" altLang="en-US"/>
              <a:t>정상 좌표의 </a:t>
            </a:r>
            <a:r>
              <a:rPr lang="en-US" altLang="ko-KR"/>
              <a:t>phase lag </a:t>
            </a:r>
            <a:r>
              <a:rPr lang="ko-KR" altLang="en-US"/>
              <a:t>자체를 </a:t>
            </a:r>
            <a:r>
              <a:rPr lang="en-US" altLang="ko-KR"/>
              <a:t>plastic hysteresis</a:t>
            </a:r>
            <a:r>
              <a:rPr lang="ko-KR" altLang="en-US"/>
              <a:t>라고 부르지 않는다</a:t>
            </a:r>
            <a:r>
              <a:rPr lang="en-US" altLang="ko-KR"/>
              <a:t>. χ</a:t>
            </a:r>
            <a:r>
              <a:rPr lang="ko-KR" altLang="en-US"/>
              <a:t>와 전달함수𝒢의 기호도 구별한다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solver_v1/DYNAMICS_FAST_A_DIAGNOSTICS.md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729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 공통 </a:t>
            </a:r>
            <a:r>
              <a:rPr lang="en-US" altLang="ko-KR"/>
              <a:t>t0</a:t>
            </a:r>
            <a:r>
              <a:rPr lang="ko-KR" altLang="en-US"/>
              <a:t>에는 </a:t>
            </a:r>
            <a:r>
              <a:rPr lang="en-US" altLang="ko-KR"/>
              <a:t>Ma</a:t>
            </a:r>
            <a:r>
              <a:rPr lang="ko-KR" altLang="en-US"/>
              <a:t>와</a:t>
            </a:r>
            <a:r>
              <a:rPr lang="en-US" altLang="ko-KR"/>
              <a:t>Ms</a:t>
            </a:r>
            <a:r>
              <a:rPr lang="ko-KR" altLang="en-US"/>
              <a:t>의 물리</a:t>
            </a:r>
            <a:r>
              <a:rPr lang="en-US" altLang="ko-KR"/>
              <a:t>/</a:t>
            </a:r>
            <a:r>
              <a:rPr lang="ko-KR" altLang="en-US"/>
              <a:t>모델 비율이 일치해야 한다</a:t>
            </a:r>
            <a:r>
              <a:rPr lang="en-US" altLang="ko-KR"/>
              <a:t>. </a:t>
            </a:r>
            <a:r>
              <a:rPr lang="ko-KR" altLang="en-US"/>
              <a:t>독립 이동도가 기존</a:t>
            </a:r>
            <a:r>
              <a:rPr lang="en-US" altLang="ko-KR"/>
              <a:t>1:.05</a:t>
            </a:r>
            <a:r>
              <a:rPr lang="ko-KR" altLang="en-US"/>
              <a:t>와 다르면 상대 이동도 자체를 증거에 따라 검증해야 한다</a:t>
            </a:r>
            <a:r>
              <a:rPr lang="en-US" altLang="ko-KR"/>
              <a:t>. </a:t>
            </a:r>
            <a:r>
              <a:rPr lang="ko-KR" altLang="en-US"/>
              <a:t>원자 질량을 숨은 </a:t>
            </a:r>
            <a:r>
              <a:rPr lang="en-US" altLang="ko-KR"/>
              <a:t>Newtonian </a:t>
            </a:r>
            <a:r>
              <a:rPr lang="ko-KR" altLang="en-US"/>
              <a:t>시간으로 넣지 않는다</a:t>
            </a:r>
            <a:r>
              <a:rPr lang="en-US" altLang="ko-KR"/>
              <a:t>. </a:t>
            </a:r>
            <a:r>
              <a:rPr lang="ko-KR" altLang="en-US"/>
              <a:t>생산 </a:t>
            </a:r>
            <a:r>
              <a:rPr lang="en-US" altLang="ko-KR"/>
              <a:t>Ma,phys/Ms,phys/t0</a:t>
            </a:r>
            <a:r>
              <a:rPr lang="ko-KR" altLang="en-US"/>
              <a:t>는 미보정 상태다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solver_v1/PHYSICAL_TIME_AND_MOBILITY.md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0941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B=MH, C(t)=exp(−Bt)C</a:t>
            </a:r>
            <a:r>
              <a:rPr lang="ko-KR" altLang="en-US"/>
              <a:t>이면 </a:t>
            </a:r>
            <a:r>
              <a:rPr lang="en-US" altLang="ko-KR"/>
              <a:t>K=B^(−1)C</a:t>
            </a:r>
            <a:r>
              <a:rPr lang="ko-KR" altLang="en-US"/>
              <a:t>다</a:t>
            </a:r>
            <a:r>
              <a:rPr lang="en-US" altLang="ko-KR"/>
              <a:t>. Gibbs covariance C=θH^(−1)</a:t>
            </a:r>
            <a:r>
              <a:rPr lang="ko-KR" altLang="en-US"/>
              <a:t>에서 </a:t>
            </a:r>
            <a:r>
              <a:rPr lang="en-US" altLang="ko-KR"/>
              <a:t>Γ</a:t>
            </a:r>
            <a:r>
              <a:rPr lang="ko-KR" altLang="en-US"/>
              <a:t>식과</a:t>
            </a:r>
            <a:r>
              <a:rPr lang="en-US" altLang="ko-KR"/>
              <a:t>M</a:t>
            </a:r>
            <a:r>
              <a:rPr lang="ko-KR" altLang="en-US"/>
              <a:t>식을 얻는다</a:t>
            </a:r>
            <a:r>
              <a:rPr lang="en-US" altLang="ko-KR"/>
              <a:t>. </a:t>
            </a:r>
            <a:r>
              <a:rPr lang="ko-KR" altLang="en-US"/>
              <a:t>실제 </a:t>
            </a:r>
            <a:r>
              <a:rPr lang="en-US" altLang="ko-KR"/>
              <a:t>MD</a:t>
            </a:r>
            <a:r>
              <a:rPr lang="ko-KR" altLang="en-US"/>
              <a:t>는 운동량과 기억 효과를 갖는다</a:t>
            </a:r>
            <a:r>
              <a:rPr lang="en-US" altLang="ko-KR"/>
              <a:t>. </a:t>
            </a:r>
            <a:r>
              <a:rPr lang="ko-KR" altLang="en-US"/>
              <a:t>저주파 한계</a:t>
            </a:r>
            <a:r>
              <a:rPr lang="en-US" altLang="ko-KR"/>
              <a:t>, </a:t>
            </a:r>
            <a:r>
              <a:rPr lang="ko-KR" altLang="en-US"/>
              <a:t>강제 응답</a:t>
            </a:r>
            <a:r>
              <a:rPr lang="en-US" altLang="ko-KR"/>
              <a:t>/FDT, </a:t>
            </a:r>
            <a:r>
              <a:rPr lang="ko-KR" altLang="en-US"/>
              <a:t>온도</a:t>
            </a:r>
            <a:r>
              <a:rPr lang="en-US" altLang="ko-KR"/>
              <a:t>, </a:t>
            </a:r>
            <a:r>
              <a:rPr lang="ko-KR" altLang="en-US"/>
              <a:t>부호</a:t>
            </a:r>
            <a:r>
              <a:rPr lang="en-US" altLang="ko-KR"/>
              <a:t>, </a:t>
            </a:r>
            <a:r>
              <a:rPr lang="ko-KR" altLang="en-US"/>
              <a:t>진폭</a:t>
            </a:r>
            <a:r>
              <a:rPr lang="en-US" altLang="ko-KR"/>
              <a:t>, </a:t>
            </a:r>
            <a:r>
              <a:rPr lang="ko-KR" altLang="en-US"/>
              <a:t>기록 길이</a:t>
            </a:r>
            <a:r>
              <a:rPr lang="en-US" altLang="ko-KR"/>
              <a:t>, </a:t>
            </a:r>
            <a:r>
              <a:rPr lang="ko-KR" altLang="en-US"/>
              <a:t>결합 모드를 검사해야 생산 이동도를 승인할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solver_v1/MODAL_KINETIC_CALIBRATION_V25.md</a:t>
            </a:r>
          </a:p>
          <a:p>
            <a:r>
              <a:rPr lang="en-US" altLang="ko-KR"/>
              <a:t>solver_v1/WEAK_KINETICS_AND_MATERIAL_V31.md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941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Cauchy–Schwarz</a:t>
            </a:r>
            <a:r>
              <a:rPr lang="ko-KR" altLang="en-US"/>
              <a:t>를 </a:t>
            </a:r>
            <a:r>
              <a:rPr lang="en-US" altLang="ko-KR"/>
              <a:t>K^(−1/2)Cv</a:t>
            </a:r>
            <a:r>
              <a:rPr lang="ko-KR" altLang="en-US"/>
              <a:t>와</a:t>
            </a:r>
            <a:r>
              <a:rPr lang="en-US" altLang="ko-KR"/>
              <a:t>K^(1/2)v</a:t>
            </a:r>
            <a:r>
              <a:rPr lang="ko-KR" altLang="en-US"/>
              <a:t>에 적용하면 부등식을 얻는다</a:t>
            </a:r>
            <a:r>
              <a:rPr lang="en-US" altLang="ko-KR"/>
              <a:t>. </a:t>
            </a:r>
            <a:r>
              <a:rPr lang="ko-KR" altLang="en-US"/>
              <a:t>평면별 </a:t>
            </a:r>
            <a:r>
              <a:rPr lang="en-US" altLang="ko-KR"/>
              <a:t>gap</a:t>
            </a:r>
            <a:r>
              <a:rPr lang="ko-KR" altLang="en-US"/>
              <a:t>은 </a:t>
            </a:r>
            <a:r>
              <a:rPr lang="en-US" altLang="ko-KR"/>
              <a:t>Σq_l=0 </a:t>
            </a:r>
            <a:r>
              <a:rPr lang="ko-KR" altLang="en-US"/>
              <a:t>제약을 먼저 제거한 독립 </a:t>
            </a:r>
            <a:r>
              <a:rPr lang="en-US" altLang="ko-KR"/>
              <a:t>subspace</a:t>
            </a:r>
            <a:r>
              <a:rPr lang="ko-KR" altLang="en-US"/>
              <a:t>에서 역산한다</a:t>
            </a:r>
            <a:r>
              <a:rPr lang="en-US" altLang="ko-KR"/>
              <a:t>. M</a:t>
            </a:r>
            <a:r>
              <a:rPr lang="ko-KR" altLang="en-US"/>
              <a:t>만</a:t>
            </a:r>
            <a:r>
              <a:rPr lang="en-US" altLang="ko-KR"/>
              <a:t>Np</a:t>
            </a:r>
            <a:r>
              <a:rPr lang="ko-KR" altLang="en-US"/>
              <a:t>배하고</a:t>
            </a:r>
            <a:r>
              <a:rPr lang="en-US" altLang="ko-KR"/>
              <a:t>θ</a:t>
            </a:r>
            <a:r>
              <a:rPr lang="ko-KR" altLang="en-US"/>
              <a:t>를 유지하면 확산이</a:t>
            </a:r>
            <a:r>
              <a:rPr lang="en-US" altLang="ko-KR"/>
              <a:t>Np</a:t>
            </a:r>
            <a:r>
              <a:rPr lang="ko-KR" altLang="en-US"/>
              <a:t>배 바뀐다</a:t>
            </a:r>
            <a:r>
              <a:rPr lang="en-US" altLang="ko-KR"/>
              <a:t>. </a:t>
            </a:r>
            <a:r>
              <a:rPr lang="ko-KR" altLang="en-US"/>
              <a:t>이는 실제 온도를 바꾸라는 뜻이 아니라 같은 평면 확률법칙의 에너지 정규화다</a:t>
            </a:r>
            <a:r>
              <a:rPr lang="en-US" altLang="ko-KR"/>
              <a:t>. local atomic-cell PMF</a:t>
            </a:r>
            <a:r>
              <a:rPr lang="ko-KR" altLang="en-US"/>
              <a:t>로의 전이는 별도 검증 대상이다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solver_v1/collective_generator_bridge.py</a:t>
            </a:r>
          </a:p>
          <a:p>
            <a:r>
              <a:rPr lang="en-US" altLang="ko-KR"/>
              <a:t>solver_v1/WEAK_KINETICS_AND_MATERIAL_V31.md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854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항복을 이상강도에 곱하는 보정계수로 만들지 않는다</a:t>
            </a:r>
            <a:r>
              <a:rPr lang="en-US" altLang="ko-KR"/>
              <a:t>. </a:t>
            </a:r>
            <a:r>
              <a:rPr lang="ko-KR" altLang="en-US"/>
              <a:t>같은 에너지에서 공간적 변형 비용을 유도하고 결함의 안정성</a:t>
            </a:r>
            <a:r>
              <a:rPr lang="en-US" altLang="ko-KR"/>
              <a:t>·</a:t>
            </a:r>
            <a:r>
              <a:rPr lang="ko-KR" altLang="en-US"/>
              <a:t>구동</a:t>
            </a:r>
            <a:r>
              <a:rPr lang="en-US" altLang="ko-KR"/>
              <a:t>·</a:t>
            </a:r>
            <a:r>
              <a:rPr lang="ko-KR" altLang="en-US"/>
              <a:t>유한 </a:t>
            </a:r>
            <a:r>
              <a:rPr lang="en-US" altLang="ko-KR"/>
              <a:t>source</a:t>
            </a:r>
            <a:r>
              <a:rPr lang="ko-KR" altLang="en-US"/>
              <a:t>를 검증한다</a:t>
            </a:r>
            <a:r>
              <a:rPr lang="en-US" altLang="ko-KR"/>
              <a:t>. </a:t>
            </a:r>
            <a:r>
              <a:rPr lang="ko-KR" altLang="en-US"/>
              <a:t>지름</a:t>
            </a:r>
            <a:r>
              <a:rPr lang="en-US" altLang="ko-KR"/>
              <a:t>, </a:t>
            </a:r>
            <a:r>
              <a:rPr lang="ko-KR" altLang="en-US"/>
              <a:t>원자 셀 면적</a:t>
            </a:r>
            <a:r>
              <a:rPr lang="en-US" altLang="ko-KR"/>
              <a:t>, A_c</a:t>
            </a:r>
            <a:r>
              <a:rPr lang="ko-KR" altLang="en-US"/>
              <a:t>를 자동으로 </a:t>
            </a:r>
            <a:r>
              <a:rPr lang="en-US" altLang="ko-KR"/>
              <a:t>activation </a:t>
            </a:r>
            <a:r>
              <a:rPr lang="ko-KR" altLang="en-US"/>
              <a:t>크기로 쓰지 않는다</a:t>
            </a:r>
            <a:r>
              <a:rPr lang="en-US" altLang="ko-KR"/>
              <a:t>. </a:t>
            </a:r>
            <a:r>
              <a:rPr lang="ko-KR" altLang="en-US"/>
              <a:t>여기의 </a:t>
            </a:r>
            <a:r>
              <a:rPr lang="en-US" altLang="ko-KR"/>
              <a:t>continuum+misfit</a:t>
            </a:r>
            <a:r>
              <a:rPr lang="ko-KR" altLang="en-US"/>
              <a:t>은 </a:t>
            </a:r>
            <a:r>
              <a:rPr lang="en-US" altLang="ko-KR"/>
              <a:t>long-wave </a:t>
            </a:r>
            <a:r>
              <a:rPr lang="ko-KR" altLang="en-US"/>
              <a:t>근사로서 원자 코어에서 별도 검사해야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solver_v1/NONLOCAL_INTERFACE_ELASTICITY.md</a:t>
            </a:r>
          </a:p>
          <a:p>
            <a:r>
              <a:rPr lang="en-US" altLang="ko-KR"/>
              <a:t>solver_v1/MATERIAL_TO_SPECIMEN_STRENGTH.md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7166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en-US" altLang="ko-KR"/>
              <a:t>half-space</a:t>
            </a:r>
            <a:r>
              <a:rPr lang="ko-KR" altLang="en-US"/>
              <a:t>의 공통 변위를 최소화하면 첫 </a:t>
            </a:r>
            <a:r>
              <a:rPr lang="en-US" altLang="ko-KR"/>
              <a:t>Schur kernel</a:t>
            </a:r>
            <a:r>
              <a:rPr lang="ko-KR" altLang="en-US"/>
              <a:t>을 얻는다</a:t>
            </a:r>
            <a:r>
              <a:rPr lang="en-US" altLang="ko-KR"/>
              <a:t>. H+</a:t>
            </a:r>
            <a:r>
              <a:rPr lang="ko-KR" altLang="en-US"/>
              <a:t>는 </a:t>
            </a:r>
            <a:r>
              <a:rPr lang="en-US" altLang="ko-KR"/>
              <a:t>translation zero modes</a:t>
            </a:r>
            <a:r>
              <a:rPr lang="ko-KR" altLang="en-US"/>
              <a:t>를 처리한 </a:t>
            </a:r>
            <a:r>
              <a:rPr lang="en-US" altLang="ko-KR"/>
              <a:t>pseudoinverse</a:t>
            </a:r>
            <a:r>
              <a:rPr lang="ko-KR" altLang="en-US"/>
              <a:t>이고 </a:t>
            </a:r>
            <a:r>
              <a:rPr lang="en-US" altLang="ko-KR"/>
              <a:t>B</a:t>
            </a:r>
            <a:r>
              <a:rPr lang="ko-KR" altLang="en-US"/>
              <a:t>는 명시된 </a:t>
            </a:r>
            <a:r>
              <a:rPr lang="en-US" altLang="ko-KR"/>
              <a:t>displacement-jump </a:t>
            </a:r>
            <a:r>
              <a:rPr lang="ko-KR" altLang="en-US"/>
              <a:t>제약이다</a:t>
            </a:r>
            <a:r>
              <a:rPr lang="en-US" altLang="ko-KR"/>
              <a:t>. continuum K(0)=0</a:t>
            </a:r>
            <a:r>
              <a:rPr lang="ko-KR" altLang="en-US"/>
              <a:t>과 </a:t>
            </a:r>
            <a:r>
              <a:rPr lang="en-US" altLang="ko-KR"/>
              <a:t>atomistic local term</a:t>
            </a:r>
            <a:r>
              <a:rPr lang="ko-KR" altLang="en-US"/>
              <a:t>의 차이를 구별한다</a:t>
            </a:r>
            <a:r>
              <a:rPr lang="en-US" altLang="ko-KR"/>
              <a:t>. </a:t>
            </a:r>
            <a:r>
              <a:rPr lang="ko-KR" altLang="en-US"/>
              <a:t>원자열 코어에서 </a:t>
            </a:r>
            <a:r>
              <a:rPr lang="en-US" altLang="ko-KR"/>
              <a:t>y,z</a:t>
            </a:r>
            <a:r>
              <a:rPr lang="ko-KR" altLang="en-US"/>
              <a:t>도 움직이면 </a:t>
            </a:r>
            <a:r>
              <a:rPr lang="en-US" altLang="ko-KR"/>
              <a:t>Bessel </a:t>
            </a:r>
            <a:r>
              <a:rPr lang="ko-KR" altLang="en-US"/>
              <a:t>영 모드의 </a:t>
            </a:r>
            <a:r>
              <a:rPr lang="en-US" altLang="ko-KR"/>
              <a:t>algebraic tail</a:t>
            </a:r>
            <a:r>
              <a:rPr lang="ko-KR" altLang="en-US"/>
              <a:t>을 보존해야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solver_v1/NONLOCAL_INTERFACE_ELASTICITY.md</a:t>
            </a:r>
          </a:p>
          <a:p>
            <a:r>
              <a:rPr lang="en-US" altLang="ko-KR"/>
              <a:t>solver_v1/DISCRETE_FCC_SCREW_DERIVATION.md</a:t>
            </a:r>
          </a:p>
          <a:p>
            <a:r>
              <a:rPr lang="en-US" altLang="ko-KR"/>
              <a:t>solver_v1/VECTOR_FCC_CORE_DERIVATION.md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3792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식은 양의 </a:t>
            </a:r>
            <a:r>
              <a:rPr lang="en-US" altLang="ko-KR"/>
              <a:t>anisotropic line stiffness</a:t>
            </a:r>
            <a:r>
              <a:rPr lang="ko-KR" altLang="en-US"/>
              <a:t>를 갖는 </a:t>
            </a:r>
            <a:r>
              <a:rPr lang="en-US" altLang="ko-KR"/>
              <a:t>planar local-line </a:t>
            </a:r>
            <a:r>
              <a:rPr lang="ko-KR" altLang="en-US"/>
              <a:t>근사 안에서의 유도다</a:t>
            </a:r>
            <a:r>
              <a:rPr lang="en-US" altLang="ko-KR"/>
              <a:t>. </a:t>
            </a:r>
            <a:r>
              <a:rPr lang="ko-KR" altLang="en-US"/>
              <a:t>선 에너지는 같은 벌크</a:t>
            </a:r>
            <a:r>
              <a:rPr lang="en-US" altLang="ko-KR"/>
              <a:t>/</a:t>
            </a:r>
            <a:r>
              <a:rPr lang="ko-KR" altLang="en-US"/>
              <a:t>계면 </a:t>
            </a:r>
            <a:r>
              <a:rPr lang="en-US" altLang="ko-KR"/>
              <a:t>kernel</a:t>
            </a:r>
            <a:r>
              <a:rPr lang="ko-KR" altLang="en-US"/>
              <a:t>에서 연결하지만 </a:t>
            </a:r>
            <a:r>
              <a:rPr lang="en-US" altLang="ko-KR"/>
              <a:t>core</a:t>
            </a:r>
            <a:r>
              <a:rPr lang="ko-KR" altLang="en-US"/>
              <a:t>와 장애물의 물리값이 추가로 필요하다</a:t>
            </a:r>
            <a:r>
              <a:rPr lang="en-US" altLang="ko-KR"/>
              <a:t>. finite barrier</a:t>
            </a:r>
            <a:r>
              <a:rPr lang="ko-KR" altLang="en-US"/>
              <a:t>를 얻어도 물리 속도나 실험 항복이 자동 검증되지 않는다</a:t>
            </a:r>
            <a:r>
              <a:rPr lang="en-US" altLang="ko-KR"/>
              <a:t>. ΔG</a:t>
            </a:r>
            <a:r>
              <a:rPr lang="ko-KR" altLang="en-US"/>
              <a:t>의 응력 미분으로 </a:t>
            </a:r>
            <a:r>
              <a:rPr lang="en-US" altLang="ko-KR"/>
              <a:t>activation </a:t>
            </a:r>
            <a:r>
              <a:rPr lang="ko-KR" altLang="en-US"/>
              <a:t>형상량이 나오며 임의 </a:t>
            </a:r>
            <a:r>
              <a:rPr lang="en-US" altLang="ko-KR"/>
              <a:t>characteristic volume</a:t>
            </a:r>
            <a:r>
              <a:rPr lang="ko-KR" altLang="en-US"/>
              <a:t>을 넣지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solver_v1/FINITE_SOURCE_BARRIER_DERIVATION.md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8108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Aatomic</a:t>
            </a:r>
            <a:r>
              <a:rPr lang="ko-KR" altLang="en-US"/>
              <a:t>은 원자 에너지의 면적 정규화</a:t>
            </a:r>
            <a:r>
              <a:rPr lang="en-US" altLang="ko-KR"/>
              <a:t>, Ac</a:t>
            </a:r>
            <a:r>
              <a:rPr lang="ko-KR" altLang="en-US"/>
              <a:t>는 확률 상관 면적</a:t>
            </a:r>
            <a:r>
              <a:rPr lang="en-US" altLang="ko-KR"/>
              <a:t>, Astressed</a:t>
            </a:r>
            <a:r>
              <a:rPr lang="ko-KR" altLang="en-US"/>
              <a:t>는 시편 하중 면적이다</a:t>
            </a:r>
            <a:r>
              <a:rPr lang="en-US" altLang="ko-KR"/>
              <a:t>. </a:t>
            </a:r>
            <a:r>
              <a:rPr lang="ko-KR" altLang="en-US"/>
              <a:t>세 양을 같은 것으로 쓰지 않는다</a:t>
            </a:r>
            <a:r>
              <a:rPr lang="en-US" altLang="ko-KR"/>
              <a:t>. strain</a:t>
            </a:r>
            <a:r>
              <a:rPr lang="ko-KR" altLang="en-US"/>
              <a:t>과</a:t>
            </a:r>
            <a:r>
              <a:rPr lang="en-US" altLang="ko-KR"/>
              <a:t>well activity</a:t>
            </a:r>
            <a:r>
              <a:rPr lang="ko-KR" altLang="en-US"/>
              <a:t>에는</a:t>
            </a:r>
            <a:r>
              <a:rPr lang="en-US" altLang="ko-KR"/>
              <a:t>Neff</a:t>
            </a:r>
            <a:r>
              <a:rPr lang="ko-KR" altLang="en-US"/>
              <a:t>를 곱하지 않는다</a:t>
            </a:r>
            <a:r>
              <a:rPr lang="en-US" altLang="ko-KR"/>
              <a:t>. </a:t>
            </a:r>
            <a:r>
              <a:rPr lang="ko-KR" altLang="en-US"/>
              <a:t>분산을 맞춘 </a:t>
            </a:r>
            <a:r>
              <a:rPr lang="en-US" altLang="ko-KR"/>
              <a:t>correlation area</a:t>
            </a:r>
            <a:r>
              <a:rPr lang="ko-KR" altLang="en-US"/>
              <a:t>가 </a:t>
            </a:r>
            <a:r>
              <a:rPr lang="en-US" altLang="ko-KR"/>
              <a:t>void/survival </a:t>
            </a:r>
            <a:r>
              <a:rPr lang="ko-KR" altLang="en-US"/>
              <a:t>확률의 독립영역 면적과 자동으로 같지 않다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solver_v1/STATISTICAL_CORRELATION_AREA.md</a:t>
            </a:r>
          </a:p>
          <a:p>
            <a:r>
              <a:rPr lang="en-US" altLang="ko-KR"/>
              <a:t>app/specimen_probability.py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07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밀도 </a:t>
            </a:r>
            <a:r>
              <a:rPr lang="en-US" altLang="ko-KR"/>
              <a:t>scale gauge</a:t>
            </a:r>
            <a:r>
              <a:rPr lang="ko-KR" altLang="en-US"/>
              <a:t>를 고정하고 </a:t>
            </a:r>
            <a:r>
              <a:rPr lang="en-US" altLang="ko-KR"/>
              <a:t>singular values/rank/</a:t>
            </a:r>
            <a:r>
              <a:rPr lang="ko-KR" altLang="en-US"/>
              <a:t>상관을 보고한다</a:t>
            </a:r>
            <a:r>
              <a:rPr lang="en-US" altLang="ko-KR"/>
              <a:t>. fixed radial shape</a:t>
            </a:r>
            <a:r>
              <a:rPr lang="ko-KR" altLang="en-US"/>
              <a:t>에서 에너지 계수에 선형인 행렬을 이용해 </a:t>
            </a:r>
            <a:r>
              <a:rPr lang="en-US" altLang="ko-KR"/>
              <a:t>exact anchors</a:t>
            </a:r>
            <a:r>
              <a:rPr lang="ko-KR" altLang="en-US"/>
              <a:t>와</a:t>
            </a:r>
            <a:r>
              <a:rPr lang="en-US" altLang="ko-KR"/>
              <a:t>minimax residual</a:t>
            </a:r>
            <a:r>
              <a:rPr lang="ko-KR" altLang="en-US"/>
              <a:t>을 분리할 수 있다</a:t>
            </a:r>
            <a:r>
              <a:rPr lang="en-US" altLang="ko-KR"/>
              <a:t>. fitting </a:t>
            </a:r>
            <a:r>
              <a:rPr lang="ko-KR" altLang="en-US"/>
              <a:t>자료</a:t>
            </a:r>
            <a:r>
              <a:rPr lang="en-US" altLang="ko-KR"/>
              <a:t>, inspected development </a:t>
            </a:r>
            <a:r>
              <a:rPr lang="ko-KR" altLang="en-US"/>
              <a:t>자료</a:t>
            </a:r>
            <a:r>
              <a:rPr lang="en-US" altLang="ko-KR"/>
              <a:t>, </a:t>
            </a:r>
            <a:r>
              <a:rPr lang="ko-KR" altLang="en-US"/>
              <a:t>적합에서 제외한 자료를 명시한다</a:t>
            </a:r>
            <a:r>
              <a:rPr lang="en-US" altLang="ko-KR"/>
              <a:t>. </a:t>
            </a:r>
            <a:r>
              <a:rPr lang="ko-KR" altLang="en-US"/>
              <a:t>작은 </a:t>
            </a:r>
            <a:r>
              <a:rPr lang="en-US" altLang="ko-KR"/>
              <a:t>training loss</a:t>
            </a:r>
            <a:r>
              <a:rPr lang="ko-KR" altLang="en-US"/>
              <a:t>도 실험 </a:t>
            </a:r>
            <a:r>
              <a:rPr lang="en-US" altLang="ko-KR"/>
              <a:t>Al </a:t>
            </a:r>
            <a:r>
              <a:rPr lang="ko-KR" altLang="en-US"/>
              <a:t>검증이나 유일한 파라미터의 증거는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solver_v1/ALUMINUM_ANALYTIC_CALIBRATION.md</a:t>
            </a:r>
          </a:p>
          <a:p>
            <a:r>
              <a:rPr lang="en-US" altLang="ko-KR"/>
              <a:t>solver_v1/CORE_INTERFACE_COMPATIBILITY_V23.md</a:t>
            </a:r>
          </a:p>
          <a:p>
            <a:r>
              <a:rPr lang="en-US" altLang="ko-KR"/>
              <a:t>solver_v1/WEAK_KINETICS_AND_MATERIAL_V31.md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9226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수학적 항등식</a:t>
            </a:r>
            <a:r>
              <a:rPr lang="en-US" altLang="ko-KR"/>
              <a:t>, </a:t>
            </a:r>
            <a:r>
              <a:rPr lang="ko-KR" altLang="en-US"/>
              <a:t>수치 구현 검증</a:t>
            </a:r>
            <a:r>
              <a:rPr lang="en-US" altLang="ko-KR"/>
              <a:t>, </a:t>
            </a:r>
            <a:r>
              <a:rPr lang="ko-KR" altLang="en-US"/>
              <a:t>재료 적합</a:t>
            </a:r>
            <a:r>
              <a:rPr lang="en-US" altLang="ko-KR"/>
              <a:t>, </a:t>
            </a:r>
            <a:r>
              <a:rPr lang="ko-KR" altLang="en-US"/>
              <a:t>실험 검증은 별도 단계다</a:t>
            </a:r>
            <a:r>
              <a:rPr lang="en-US" altLang="ko-KR"/>
              <a:t>. </a:t>
            </a:r>
            <a:r>
              <a:rPr lang="ko-KR" altLang="en-US"/>
              <a:t>생산 </a:t>
            </a:r>
            <a:r>
              <a:rPr lang="en-US" altLang="ko-KR"/>
              <a:t>PDE</a:t>
            </a:r>
            <a:r>
              <a:rPr lang="ko-KR" altLang="en-US"/>
              <a:t>는 </a:t>
            </a:r>
            <a:r>
              <a:rPr lang="en-US" altLang="ko-KR"/>
              <a:t>model-time </a:t>
            </a:r>
            <a:r>
              <a:rPr lang="ko-KR" altLang="en-US"/>
              <a:t>상태이며 연구 </a:t>
            </a:r>
            <a:r>
              <a:rPr lang="en-US" altLang="ko-KR"/>
              <a:t>MD</a:t>
            </a:r>
            <a:r>
              <a:rPr lang="ko-KR" altLang="en-US"/>
              <a:t>의 </a:t>
            </a:r>
            <a:r>
              <a:rPr lang="en-US" altLang="ko-KR"/>
              <a:t>ps</a:t>
            </a:r>
            <a:r>
              <a:rPr lang="ko-KR" altLang="en-US"/>
              <a:t>를 그 </a:t>
            </a:r>
            <a:r>
              <a:rPr lang="en-US" altLang="ko-KR"/>
              <a:t>Hz</a:t>
            </a:r>
            <a:r>
              <a:rPr lang="ko-KR" altLang="en-US"/>
              <a:t>로 재명명하지 않는다</a:t>
            </a:r>
            <a:r>
              <a:rPr lang="en-US" altLang="ko-KR"/>
              <a:t>. </a:t>
            </a:r>
            <a:r>
              <a:rPr lang="ko-KR" altLang="en-US"/>
              <a:t>개구 최초통과</a:t>
            </a:r>
            <a:r>
              <a:rPr lang="en-US" altLang="ko-KR"/>
              <a:t>, </a:t>
            </a:r>
            <a:r>
              <a:rPr lang="ko-KR" altLang="en-US"/>
              <a:t>누적 소산</a:t>
            </a:r>
            <a:r>
              <a:rPr lang="en-US" altLang="ko-KR"/>
              <a:t>, </a:t>
            </a:r>
            <a:r>
              <a:rPr lang="ko-KR" altLang="en-US"/>
              <a:t>순간 위험영역 점유는 서로 다른 관측량이다</a:t>
            </a:r>
            <a:r>
              <a:rPr lang="en-US" altLang="ko-KR"/>
              <a:t>. </a:t>
            </a:r>
            <a:r>
              <a:rPr lang="ko-KR" altLang="en-US"/>
              <a:t>각 정의의 경계조건과 적용 범위를 확인한다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AGENTS.md</a:t>
            </a:r>
          </a:p>
          <a:p>
            <a:r>
              <a:rPr lang="en-US" altLang="ko-KR"/>
              <a:t>solver_v1/SOLVER_VALIDATION_GATES.md</a:t>
            </a:r>
          </a:p>
          <a:p>
            <a:r>
              <a:rPr lang="en-US" altLang="ko-KR"/>
              <a:t>solver_v1/WEAK_KINETICS_AND_MATERIAL_V31.md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8561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수식과 자세한 유도는 같은 폴더의 </a:t>
            </a:r>
            <a:r>
              <a:rPr lang="en-US" altLang="ko-KR"/>
              <a:t>theory_notes.md </a:t>
            </a:r>
            <a:r>
              <a:rPr lang="ko-KR" altLang="en-US"/>
              <a:t>및 각 슬라이드 출처의 저장소 문서</a:t>
            </a:r>
            <a:r>
              <a:rPr lang="en-US" altLang="ko-KR"/>
              <a:t>/</a:t>
            </a:r>
            <a:r>
              <a:rPr lang="ko-KR" altLang="en-US"/>
              <a:t>코드에 있다</a:t>
            </a:r>
            <a:r>
              <a:rPr lang="en-US" altLang="ko-KR"/>
              <a:t>. </a:t>
            </a:r>
            <a:r>
              <a:rPr lang="ko-KR" altLang="en-US"/>
              <a:t>표기상 </a:t>
            </a:r>
            <a:r>
              <a:rPr lang="en-US" altLang="ko-KR"/>
              <a:t>applied stress </a:t>
            </a:r>
            <a:r>
              <a:rPr lang="el-GR" altLang="ko-KR"/>
              <a:t>σ</a:t>
            </a:r>
            <a:r>
              <a:rPr lang="ko-KR" altLang="en-US"/>
              <a:t>와</a:t>
            </a:r>
            <a:r>
              <a:rPr lang="en-US" altLang="ko-KR"/>
              <a:t>LJ</a:t>
            </a:r>
            <a:r>
              <a:rPr lang="ko-KR" altLang="en-US"/>
              <a:t>길이</a:t>
            </a:r>
            <a:r>
              <a:rPr lang="el-GR" altLang="ko-KR"/>
              <a:t>σ</a:t>
            </a:r>
            <a:r>
              <a:rPr lang="en-US" altLang="ko-KR"/>
              <a:t>LJ, axial projection</a:t>
            </a:r>
            <a:r>
              <a:rPr lang="el-GR" altLang="ko-KR"/>
              <a:t>χ</a:t>
            </a:r>
            <a:r>
              <a:rPr lang="ko-KR" altLang="en-US"/>
              <a:t>와</a:t>
            </a:r>
            <a:r>
              <a:rPr lang="en-US" altLang="ko-KR"/>
              <a:t>complex susceptibility</a:t>
            </a:r>
            <a:r>
              <a:rPr lang="el-GR" altLang="ko-KR"/>
              <a:t>χ</a:t>
            </a:r>
            <a:r>
              <a:rPr lang="en-US" altLang="ko-KR"/>
              <a:t>v, stacking shift</a:t>
            </a:r>
            <a:r>
              <a:rPr lang="el-GR" altLang="ko-KR"/>
              <a:t>τ</a:t>
            </a:r>
            <a:r>
              <a:rPr lang="ko-KR" altLang="en-US"/>
              <a:t>와</a:t>
            </a:r>
            <a:r>
              <a:rPr lang="en-US" altLang="ko-KR"/>
              <a:t>resolved shear traction</a:t>
            </a:r>
            <a:r>
              <a:rPr lang="el-GR" altLang="ko-KR"/>
              <a:t>τ</a:t>
            </a:r>
            <a:r>
              <a:rPr lang="ko-KR" altLang="en-US"/>
              <a:t>는 각각 문맥과첨자로 구별한다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출처</a:t>
            </a:r>
          </a:p>
          <a:p>
            <a:r>
              <a:rPr lang="en-US" altLang="ko-KR"/>
              <a:t>AGENTS.md</a:t>
            </a:r>
          </a:p>
          <a:p>
            <a:r>
              <a:rPr lang="en-US" altLang="ko-KR"/>
              <a:t>solver_v1/RESULT_FIELDS.md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07CDD-63FE-48F3-8DB4-56FE158C9DE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4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9ACC3-DAFC-22C4-FF0F-330519E4A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AFC26B-3465-B05F-6E67-6A2BBB1EF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7BFCC-DF22-5504-DBCE-3F727CE4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8A216-97C2-3BCC-573E-F6F9EA54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3FA81C-8F7C-9470-6224-7CC149C3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51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09F3E-38FB-86B8-8BF7-01C23FAC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FD7F7F-771B-AFB3-AC27-A466C2A1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677951-FDBF-C6C4-235B-AC66F4ED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9C95-8C36-CA46-40A8-1B385EA4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6E658B-C0A1-269A-776E-BA373110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17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77C3B-91B6-DE20-E4E0-E12D34EE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C35178-5327-7A05-476C-33BB69B09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0E6B-6238-16EF-7914-31D21D85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4E30F-C2D9-D466-D033-ECA6260D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8E0D7-68F2-69D1-B931-D622AE12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26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C6B30-BE63-26F1-C972-A13BAFD5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80BE8-D736-DB9E-4526-9F792D594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F9D0F-5B34-B97F-B888-1D42AE47D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88F22F-04DD-95D8-A5AA-F241EDC5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8F9EC0-DF65-2C81-23F0-FED154B9B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715EF-F923-349C-A40F-67852B71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56D08-6871-6511-F4AD-004D801D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874A5-6CC8-3310-E64D-246EE3EC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C6FD98-519A-A00C-1959-E04538155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7F911E-1833-2933-C50F-71D788072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EC5C95-797C-9EA9-D42B-3E35E0561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BB49BD-B842-B58B-8098-9B8C4B4A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0EEDF0-98FA-A092-9E1F-480BE29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C18490-DDB9-EDB7-216D-604CBC6B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64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CA78E-7CDB-C2D0-60CC-24D8F28E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9AA86E-A0AF-1A30-CBE8-FCA95C4C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94BE0-AAEE-1374-7E72-5A755F1D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43CBA7-C318-2CC5-0065-41ED0AC9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D289F5-5A33-D3D2-130F-C29802D6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66605D-48BC-CE9B-08B8-B49FBB94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952640-7AC5-9764-0A06-1241E2E0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51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33116-6075-06A5-C104-EE808310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4DCF9-C49D-4736-A2EF-A4DBCF47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44DF53-89F1-73FD-A585-592ECDF67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438FBD-9B41-7592-5657-822D13BA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879C80-9824-4A1D-234F-5D62772B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186DB4-87E4-B919-B765-EF0CE852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50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D7ACA-80D6-717D-26E2-96F0495F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03C275-8721-B480-6822-E90C0E5E3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B34FA9-490F-2C01-529F-C0695F6B6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75D15A-D614-70A0-3D56-628EA515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F0CD83-9A72-A4F5-D3AE-CEDACEC5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7FA47-BB6C-3775-7879-C7490F64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28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54507-8CE8-01CD-137F-78D441A9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61A8AD-353B-7B94-67A4-0D312DF1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25748-014D-4416-7849-B95A7334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399EB-5816-BE8A-309E-6206DBDF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C85DC8-B5BB-8EDA-07BE-5A259E17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19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7637F6-3A44-A005-CBF1-4939DCE59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1BCD69-489D-4F8D-EFCF-7B7D5FC22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AEB536-AEFA-CFF8-0088-D5922261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80E73F-3687-74FC-2442-079C2E70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AEDF5-7912-B21C-6520-9BF7F293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9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6D72EA-13F7-D171-8640-AF8997C5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89944B-CBFA-A4DB-801F-1276B0E95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7ABFB-6D82-80AE-4136-C269BC6B1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9D42C-1BE8-4E12-8080-655A8B5A3D70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DBBC6-BBE4-7D12-B130-945B448FC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CFFC8-C3AF-4F69-249B-1BB5BA73B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FB487-E043-466F-B433-DAFED09C9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60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E5D42-2B8A-C52E-A5AE-AC2A88BAC5F2}"/>
              </a:ext>
            </a:extLst>
          </p:cNvPr>
          <p:cNvSpPr txBox="1"/>
          <p:nvPr/>
        </p:nvSpPr>
        <p:spPr>
          <a:xfrm>
            <a:off x="711200" y="171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4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LJ/Bessel </a:t>
            </a:r>
            <a:r>
              <a:rPr lang="ko-KR" altLang="en-US" sz="4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 격자와
확률 동역학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734A9-3DF6-1ADC-B449-89347BEE8935}"/>
              </a:ext>
            </a:extLst>
          </p:cNvPr>
          <p:cNvSpPr txBox="1"/>
          <p:nvPr/>
        </p:nvSpPr>
        <p:spPr>
          <a:xfrm>
            <a:off x="736600" y="3937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 </a:t>
            </a:r>
            <a:r>
              <a:rPr lang="ko-KR" altLang="en-US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피로 연구의 수학적</a:t>
            </a:r>
            <a:r>
              <a:rPr lang="en-US" altLang="ko-KR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물리적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CC2AB0-F5C1-67A7-42B6-72AD2D034261}"/>
              </a:ext>
            </a:extLst>
          </p:cNvPr>
          <p:cNvSpPr txBox="1"/>
          <p:nvPr/>
        </p:nvSpPr>
        <p:spPr>
          <a:xfrm>
            <a:off x="736600" y="453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에너지 지형</a:t>
            </a:r>
            <a:r>
              <a:rPr lang="en-US" altLang="ko-KR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구성 이동</a:t>
            </a:r>
            <a:r>
              <a:rPr lang="en-US" altLang="ko-KR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300">
                <a:solidFill>
                  <a:srgbClr val="60606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개구 최초통과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6B64C-3521-2466-651F-6D06B8F99B4B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01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238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48A7F-65A8-8E79-D47A-81032361C26C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서로 다른 모델 계층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731AF-7EB1-798C-9DCF-000849A6D06D}"/>
              </a:ext>
            </a:extLst>
          </p:cNvPr>
          <p:cNvSpPr txBox="1"/>
          <p:nvPr/>
        </p:nvSpPr>
        <p:spPr>
          <a:xfrm>
            <a:off x="736600" y="1917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TwoRowLJ: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 하부 원자열과 상부 좌표의 축약 기준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F20F5-2117-37FE-0C73-D7DA2F99FC54}"/>
              </a:ext>
            </a:extLst>
          </p:cNvPr>
          <p:cNvSpPr txBox="1"/>
          <p:nvPr/>
        </p:nvSpPr>
        <p:spPr>
          <a:xfrm>
            <a:off x="736600" y="2641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Full FCC: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삼각 원자평면과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 적층의 벌크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74BA0-DC47-C9C3-38ED-C8C12F2D84C7}"/>
              </a:ext>
            </a:extLst>
          </p:cNvPr>
          <p:cNvSpPr txBox="1"/>
          <p:nvPr/>
        </p:nvSpPr>
        <p:spPr>
          <a:xfrm>
            <a:off x="736600" y="3365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활성 계면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계면의 개구와 두 성분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4202E-38BD-0DF3-D354-AD8709918C71}"/>
              </a:ext>
            </a:extLst>
          </p:cNvPr>
          <p:cNvSpPr txBox="1"/>
          <p:nvPr/>
        </p:nvSpPr>
        <p:spPr>
          <a:xfrm>
            <a:off x="736600" y="4089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공간 결함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비균일 변위장과 전위 코어를 포함하는 연구 확장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CFF25-FF54-2082-0B5E-125C9FF2C246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02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307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EBA3F9-5959-2AC8-3A8A-19C5831DCE52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집단좌표와 확률밀도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26670-EF0E-D169-82CF-56B36411AE90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 = (a,s),     P = P(a,s,t)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ED9D6-818C-A37A-12C5-D42B656102E4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 = bn +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ξ,    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 = floor(s/b + 1/2)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16F5F-8555-BE13-54A6-9B864ED76701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−b/2 ≤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ξ &lt;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b/2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B774A-5F32-C550-06A5-A787A0BDB459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정상 분리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s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누적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변위다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3E2C7-6B9B-8EA8-F9EE-86DF53592681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ξ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우물 내부 좌표이며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주기적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우물의 정수 지표다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3F8DE-423A-77C2-8522-D364119A8584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03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007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4A934-8FCF-C53A-231C-389AF85A5166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쌍 퍼텐셜과 두 원자열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83D0D-F36F-E638-1AA0-25803A7E9CB6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φ(r) = 4ε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[(σ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/r)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12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− (σ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/r)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6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1C5E-EFED-3F2A-9D59-F24F882D8BB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a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+ [(n+1/2)b − s]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860F2-8F70-89E8-A68D-27EDFFAC8A55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W(a,s) = 4ε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[σ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12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6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− σ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6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4282C-8575-977E-C5C4-BC3346E8CEBB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Sₚ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모든 정수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대한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rₙ⁻²ᵖ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합이다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D5CE5-ABE0-D047-5850-C6F15AF3CDDF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σLJ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쌍 퍼텐셜의 길이 매개변수이며 적용 응력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σ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구별한다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05F3B-74DA-DDA2-71E0-7FA05AECF9CE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04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550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CA4DC-AE27-AE40-BB15-F62D998D7D1E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Gamma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적분에서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Gaussian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변환으로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33C63-7B91-11CA-9B53-DF4B8F7674B1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(d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+|x|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∞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t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−t(d²+|x|²)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dt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743F7-68C5-94EE-354A-29C5301A3DF3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ℝᴰ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−t|x|²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−ik·x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dx = 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π/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−|k|²/(4t)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7045F-46AA-468D-05B2-02503D4C3A9E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(k) = [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p)]∫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∞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t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p−1−D/2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−d²t−|k|²/(4t)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dt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619D2-6B5B-C2DD-B4CA-1A1541618FA7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Fourier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규약은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exp(−ik·x)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이며 역변환에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(2π)⁻ᴰ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붙는다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A6013-75B5-4506-8509-ED1D5BF231A8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d&gt;0, p&gt;D/2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영 모드의 적분도 유한하다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FA61E-00D8-F2FD-2C86-27B799632CB8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05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489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FA3AF-03DE-9BCB-4A55-E015483A8FAD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차원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따른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Bessel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FD950-0473-7F0E-BE2D-BE9BBA7C915A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(k) = [2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p)] (|k|/2d)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p−D/2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(d|k|)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D5FD8-A9E1-D98B-9772-D51E9F528935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(0) = [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D/2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p−D/2)/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p)]d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D−2p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665FC-6AF8-C8D4-8D0B-7CDD923161CB}"/>
              </a:ext>
            </a:extLst>
          </p:cNvPr>
          <p:cNvSpPr txBox="1"/>
          <p:nvPr/>
        </p:nvSpPr>
        <p:spPr>
          <a:xfrm>
            <a:off x="736600" y="472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D=1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 원자열은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Kₚ₋₁/₂, D=2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 원자평면은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Kₚ₋₁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준다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63B42-5D8A-C9B6-DCA2-FFBCCF5FC830}"/>
              </a:ext>
            </a:extLst>
          </p:cNvPr>
          <p:cNvSpPr txBox="1"/>
          <p:nvPr/>
        </p:nvSpPr>
        <p:spPr>
          <a:xfrm>
            <a:off x="736600" y="5448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k=0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별도로 계산해 작은 인수에서의 수치 상쇄를 피한다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28D98-128F-C634-1976-8CF64C2D6F66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06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13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6E1EE-CAF2-3B70-5582-0512E78E5BE9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원자열의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Poisson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급수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D5CD3-78EA-C1C3-CF80-FDCA2C177264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(a,s) = 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(a) + ∑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m≥1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B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p,m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(a)cos θ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7D49A-7928-80DA-08A2-5A639E501F46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√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 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p−1/2)a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1−2p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/[b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9F949-7046-2F5C-5601-475714CE0C88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p,m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[4√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π/(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p))](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m/ab)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p−1/2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p−1/2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ma/b)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1F2AA-F671-26E1-D3B7-EB89A955E536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θₘ=2πm(1/2−s/b):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 격자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staggered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위상을 보존한다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02A7E-C102-73F8-731C-DD1333B199A5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 실공간 이웃 수를 임의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cutoff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정하는 방식과 구별한다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24FDB-C380-1CA9-6B06-573EB68147FB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07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22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D5B983-CE03-8D34-C458-BB54920CDCFC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개구와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장벽의 결합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1943F-DE7E-337D-1F05-4FEC2CB58B8B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ν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(z) ~ √(π/2z)e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−z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393B2-1D80-814C-E6F9-6C9627BA8B80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m≥1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m/b)B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p,m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sin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A6F0F-5D05-3A1F-A8A3-503D1A35E01A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K′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ν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(z) = −[K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ν−1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(z)+K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ν+1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(z)]/2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4854A-A7AB-6749-6200-CB3E5F9A8F23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원자열의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corrugation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대략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exp(−2πma/b)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줄어든다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A3E49-85EF-66C9-A69F-EEEC8C1AA637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해석적 미분이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drift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Hessian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함께 결정한다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B653A-0BBE-75D1-F9A4-1002A8AFB6B3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08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342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A84DB-9E28-8E4A-D0A8-EC35D7CF545E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지수형 환경 밀도의 무한합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8A8A5-8DD0-EFB3-AA2A-45E82B4DDDC4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(r)=ρ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−βρ(r/rₑ−1)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=C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−κρr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43D9F-D3CA-2EF9-66B7-8E3A22181964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ĝ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(k)=2a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κ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(aQ)/Q,     Q=√(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κ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29FA3-D91C-7AB9-43E7-C444A5392C41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parallel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=2C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/[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exp(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κ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b)−1]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CBDF9-EA7A-383E-BE4A-C2281D4AD0CA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원자열에서는 자기 자신을 제외한 기하급수를 사용한다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7E976-CC2F-A57C-4237-EFC4E73964A8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교차 원자열은 위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Fourier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계수에 같은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Poisson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위상을 적용한다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02481-4215-DE57-3A41-C0B7EA8A821F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09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482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AB12A-EBAD-4B42-3AC2-B0C37951E468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LJ–EAM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원자별 에너지 계산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670E3-914A-889B-9E17-BE7050DC0496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 = (1/2)∑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j≠i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φ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 + 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F(x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86A97-9CCA-E801-DF3E-F9E675AA8563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j≠i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),     F(x)=−A√x,     x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ref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BB5E5-632A-534B-6FC8-E751BC6FDE16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(F∘x)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αβ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F″x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α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x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β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F′x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αβ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B4F30-6386-D43C-5463-95C3AF353E26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원자의 전체 환경 밀도를 먼저 합산한 뒤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적용한다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26978-CF16-BA08-321C-00BA85DE204A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원자열 셀의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2F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full FCC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원자당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정규화가 다르다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70D67-6A72-0004-4B2F-00F4603AF543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10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73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474D7E-16CD-5972-DC6D-F2298C3DDBA1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FCC(111)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평면과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A791E-C162-0BF2-4CF1-572FF7E0E725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b=a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lat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/√2,     h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111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lat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/√3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F0579-7CC9-6E6F-94DC-ACA2C26097FF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=b(1,0),     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=b(1/2,√3/2)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E9AE8-DC90-1D13-7CEC-A46CAD9F198E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=√3 b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/2,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τ=(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)/3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0220C-9D15-2E48-E68B-266A56D47110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3τ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평면 격자 벡터이며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A, B, C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배열이 반복된다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ABFA6-322D-475A-193D-4613A9E60C40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결정축을 회전할 때는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+τ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적층에 맞는 실제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cubic-axis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대응을 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31C93-9DD6-FFA9-DB51-192618D83038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11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526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501E00-FADB-3992-7C06-778C7A1F716F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삼각 평면의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2D Poisson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B9BAB-05FE-3EB6-17EA-CC3670889F8F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(d,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δ)=∑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R∈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Λ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+|R+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δ|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21B73-1537-08B7-E70E-D06368F743F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= 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G∈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Λ*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(G)e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iG·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697D1-08A2-1948-20CC-0E2C705CD01F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π/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b)(1,−1/√3),     b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π/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b)(0,2/√3)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CADBD-362A-8F81-2AD8-C0615F77E82F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aᵢ·bⱼ=2πδᵢⱼ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만족하는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reciprocal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격자를 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F705C-5595-FB12-FF95-C8CC3BADB394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±G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묶으면 실수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cos(G·δ) corrugation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얻는다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BABAD-7248-E1EB-4C4B-411354C96664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12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87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A8C3E-9D9C-B462-DB25-9E4FA253083C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 적층과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ζ(4), ζ(10)</a:t>
            </a:r>
            <a:endParaRPr lang="ko-KR" altLang="en-US" sz="3200">
              <a:solidFill>
                <a:srgbClr val="1321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CA4DF-9676-3A90-2DD1-3E3540415B36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full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=(1/2)Z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triangle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(p)+∑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ℓ≥1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(ℓa,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87488-4AE7-1557-C60E-E438546FC072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∑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ℓ≥1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[π(ℓ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2−2p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/(A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(p−1))]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95EF7-CFFC-A0B2-5146-2E555F323E8C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 π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2−2p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ζ(2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p−2)/[A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(p−1)]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FDE14-12B1-9DC9-2513-B7C348FACC52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p=3,6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각각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ζ(4), ζ(10)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준다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9EB3D-3381-D137-A120-2174CDD6F37C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원자열 적층의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ζ(5), ζ(11)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서로 다른 차원 축약에서 나온다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EA507-E631-ACBB-7612-4048A4FD921B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13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722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E353D-5D3C-6B76-2B86-C8751FF5FFC0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계면만 움직이는 기하학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D6C78-E62D-43EF-15E7-10BEDFD9BE3C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=ℓh  (ℓ≤0),     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=ℓh+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  (ℓ≥1)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18908-58F9-515D-D9A1-B9996412068C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=0  (ℓ≤0),     u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ℓ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=u  (ℓ≥1)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C842E-5CAB-ACC1-A973-5F9BE2399614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a=h+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a,     u=(u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),     u=s 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는 경로 축약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C7E81-3E57-20DE-2F51-537917D0E1FD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 반결정 내부 간격은 벌크 값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유지한다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384969-76BF-B89B-5033-021588FE6BA4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개구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slip u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같은 활성 계면의 상대 변위다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ABDE6-7787-D05E-D7CE-6872F9EC6852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14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59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026E0-E136-DC48-E7D6-72BF8A2665FD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계면 쌍 에너지의 유한 차분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EF6A6-6FCB-FAC7-2247-3460DB29235A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pair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k≥1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k[w(kh+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a,k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u)−w(kh,k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122F3-90D1-6A8E-2676-479BB7E6E8F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(x)=∑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k≥1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k[(k+x)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−k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4D74F-7A52-B003-C0B9-FA73056BD740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=ζ(r−1,1+x)−xζ(r,1+x)−ζ(r−1)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072C0-F8CC-A524-6CF6-879638EA4581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x=</a:t>
            </a:r>
            <a:r>
              <a:rPr lang="el-GR" altLang="ko-KR" sz="2000">
                <a:solidFill>
                  <a:srgbClr val="464646"/>
                </a:solidFill>
                <a:ea typeface="Malgun Gothic" panose="020B0503020000020004" pitchFamily="50" charset="-127"/>
              </a:rPr>
              <a:t>δ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a/h, r=2p−2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plane–plane LJ kernel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16E0D-4C0D-C0A1-AAEF-1DFC1ED7B2B9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층 떨어진 상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 평면 쌍은 절단면을 가로질러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존재한다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097E8-7766-94B5-BF4F-E3CCDF150CC9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15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8746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106882-82B3-1038-FB42-040E5FD7900B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계면 근처의 원자별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embedding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5D63E-A8CB-BCE3-A7D0-20250BFF1407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k≥r+1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plane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(kh+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a,k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u)−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plane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(kh,k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3940E-40A4-218A-3B5C-3EFE45E6D1A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emb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=2∑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r≥0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[F(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bulk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)−F(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bulk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A0371-1F30-E8FD-4F60-9B17847EDE2B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W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=ΔE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pair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+ΔE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emb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W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(h,0)=0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265DA-3B05-4662-6A4F-1CC36C9AA280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계면에서의 원자층 깊이이며 양쪽 원자가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factor 2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준다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EF13D-6987-AF3B-2461-722CAADE2E64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깊은 층은 벌크 밀도로 복귀하므로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embedding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차분도 수렴한다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243C03-A620-4C89-7881-277CBEA4FD12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16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96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927E8B-FADF-7710-9CD7-487CC0D6A458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환경의 방향 정보와 대칭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13052-4277-0557-3547-227826F2424E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neighbors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w(r)r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v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=∑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ijj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4DEF0-2976-9E18-58D5-A6DE9019EB90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−(v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+v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+v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ij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)/5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218E0-A035-FD4C-A796-7326F9A7E63A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=||Q||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Q=0  (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반전 대칭 환경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CCE93-252D-3370-3F89-E859E2ECE5BD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벌크와 결함 원자는 같은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scalar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밀도라도 방향 환경이 다를 수 있다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6DCC-462B-0165-5E56-50F41E597BCD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곱은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Fourier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공간에서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i∂/∂G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대응한다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13677-9AA9-33D3-BD7C-F823DA269E06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17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916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ED91E-470E-23F5-24DB-CC9E5AF02CD4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현재의 해석적 환경 확장 계열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79864-51BB-4A66-4B95-E25FEEFA5B22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F(x)=−A√x+B(x−1)+C(x−1)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8B57D-A2C9-3416-CE2A-1C903455592C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env,i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=F(x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)+D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x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nn-NO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z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1,i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+D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3,i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+K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3,i</a:t>
            </a:r>
            <a:r>
              <a:rPr lang="nn-NO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95B52-0B43-9589-15F7-9AFCD76E5D22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+D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g(I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2,i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)+D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g(I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E,i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),     g(I)=I/(1+αI/N</a:t>
            </a:r>
            <a:r>
              <a:rPr lang="nn-NO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nn-NO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CE562-C424-86B1-090A-91E49E76CCB6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원자별 무한 환경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moment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합한 뒤 만든 불변량이다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2C2E9-928B-FCB4-95D6-44EFB951271F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탐색은 이 기존 계열 내부에서 수행하며 생산 기본식은 보존한다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D8AC2-DFB0-9406-B3B1-629FA3299611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18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23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599BD7-C40A-FC19-58D7-FC38D1314454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계면에 작용하는 외부 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684C8-AD71-E419-2585-10C143146853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t=σ·n,     t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=n·σ·n,     τ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α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=e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α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·σ·n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7881D-117F-A02E-11E0-3899CAF2B842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=W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[t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(a−h)+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E7B3A-D742-A266-CC9B-5F65A6E2643E}"/>
              </a:ext>
            </a:extLst>
          </p:cNvPr>
          <p:cNvSpPr txBox="1"/>
          <p:nvPr/>
        </p:nvSpPr>
        <p:spPr>
          <a:xfrm>
            <a:off x="736600" y="472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좌표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[m], traction [Pa],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[m²]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쓰면 외부 일은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[J]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092A6-2EB6-11B5-F425-3780E04F009A}"/>
              </a:ext>
            </a:extLst>
          </p:cNvPr>
          <p:cNvSpPr txBox="1"/>
          <p:nvPr/>
        </p:nvSpPr>
        <p:spPr>
          <a:xfrm>
            <a:off x="736600" y="5448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결정 방향과 실험 하중 방향의 변환을 명시해야 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EE532-C44D-789A-4BFC-7F6AA574BEA9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19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9419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2EDC3-8D6D-7CF6-C252-454CFE5B6DFE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완화 축방향 접선 보정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5FA9D-1FA2-3F9D-5662-DF400A72A0D2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δq=cδf,     c=(1,χ)</a:t>
            </a:r>
            <a:r>
              <a:rPr lang="fr-F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931C1-3411-D6AF-097A-C56D588B9C74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δε=(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q)/a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c)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f/a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D532B-5D67-8E05-A9D7-8EE9B6C1EDAA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κ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axial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/(c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c),     f*=κ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axial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σ/E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FEB45-0672-E57A-02EB-A1C4A71CBBFE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무주파수 평형 접선을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σ/E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맞추는 기존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reduced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규약이다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5F61F-0CA0-ED0D-5BF3-D369FB285C5E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에너지 모델은 자기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a₀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Hessian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κ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다시 계산한다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670B4-A971-5986-01E6-A3F9F0D7A127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20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519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9A4F8-D6F7-F9A2-21A3-C89D7DEBB0F5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Smoluchowski 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확률 방정식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D811D-2E54-CBA4-54DB-0D712409E1DB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P=−∇·J,     J=−M(P∇G+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θ∇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DEB7C-A069-8619-8E01-8CAA3E761283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M=diag(M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θ=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T,     D=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DC0E6-224E-FB98-C9BA-5239CB2D9F98}"/>
              </a:ext>
            </a:extLst>
          </p:cNvPr>
          <p:cNvSpPr txBox="1"/>
          <p:nvPr/>
        </p:nvSpPr>
        <p:spPr>
          <a:xfrm>
            <a:off x="736600" y="472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에너지 기울기가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drift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열항이 확률의 확산을 정한다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86FD-B565-8D59-0CF4-A295C5471374}"/>
              </a:ext>
            </a:extLst>
          </p:cNvPr>
          <p:cNvSpPr txBox="1"/>
          <p:nvPr/>
        </p:nvSpPr>
        <p:spPr>
          <a:xfrm>
            <a:off x="736600" y="5448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계산은 확률밀도 자체를 결정론적으로 진화시킨다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BA1F1-D904-A7BC-E1D8-0B99C6CA8055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21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231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1ADE5-5504-9211-05C7-905D61737A52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자유에너지와 비음수 소산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B05EB-A0A7-E8CB-5AEC-3674B571D0AB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ℱ[P]=∫PGdq+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θ∫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 ln P dq,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μ=δℱ/δ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7CB07-D9DE-C5F6-7EBD-68D12C704355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J=−MP∇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μ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73195-81F6-B36C-1871-8967492695EB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dℱ/dt=∫P∂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Gdq−∫J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J/P dq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FACB2-6A26-31E6-9BF1-743F3BAA6DDA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마지막 식은 고정 반사 경계와 일정 온도에서 성립한다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B22D0-81E3-548F-4CA4-2EB0FB472AEB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소산이 양수여도 순수 정상 지연만 있을 수 있어 소성과 구별한다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A4FE6-CBB2-8C93-7E40-277C76D6AAEC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22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93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9785A-A3DF-12A3-1360-8AA97658229F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보존형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Scharfetter–Gummel flux</a:t>
            </a:r>
            <a:endParaRPr lang="ko-KR" altLang="en-US" sz="3200">
              <a:solidFill>
                <a:srgbClr val="1321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A001A-8DB8-A18F-872C-8565893B0639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B(z)=z/(e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z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−1),     Δ=(G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−G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)/θ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AF76A-8AB9-C72F-0857-77F9374A766C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L→R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=(D/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q)[B(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Δ)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−B(−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Δ)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D1558-6A24-8913-02E4-2603102A9787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 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에서 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L→R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=0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DAAC4-8233-449A-4B2A-E7CF80128DBA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내부면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flux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두 셀에 반대 부호로 반영한다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3F9A4-E5EB-6551-CBCC-D9D040DB3A4A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명시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암시 적분은 같은 공간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generator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사용한다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46E9F-2B77-E1D7-7220-0A9652A87B2D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23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7377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42DE4-0062-74AB-2BE9-D1219CD0C4BD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생존 앙상블의 변형률 분해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B1154-217E-7EE3-6CE6-55E00AB8EBE8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⟨X⟩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=∫XPdq/M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raw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raw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intact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Pdq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616A0-677B-240D-83A2-9D1750D8BE54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=⟨a−a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⟩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ε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ξ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=χ⟨ξ⟩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/a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787C6-8DC2-ADB3-CE16-D3FD888ECA80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χ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b⟨n⟩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total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ξ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+ε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858F1-A62D-AFBD-9844-DF957F883B4D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흡수된 상태를 생존 앙상블 평균에 포함하지 않는다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C5710-6D82-7506-8B17-64A8E7126E4E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χ⟨s⟩/a₀=εξ+εp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매 저장 시점에 검사한다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88457-CF58-952B-93BF-CEB5C097E3B0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24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563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31C80-8500-5674-561F-C9002CEA3398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우물 점유와 순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총 구성 이동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1ED8C-94CA-F330-AD10-E8210A87EE8A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=∫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Ω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ₙ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Pdq,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Σ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raw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FC773-ECA8-AB3F-0DD9-B04DA0834AAE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/dt=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n−1/2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n+1/2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−Ȧ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5BC02-98B3-F8D1-0479-FD6FDA916A45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=j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−j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gross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=j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+j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F5384-7EB4-10D9-0F7D-C2A06D3903B0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양의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flux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증가하는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방향이며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Ȧₙ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해당 우물의 개구 손실이다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A7944-0098-0EDD-EE64-12A7FBC2BE76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총 양방향 활동과 방향성 있는 순이동은 다른 관측량이다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DACB6-55D3-DE33-9F07-63B316514705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25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725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DA849-9C18-E246-044C-823A8C3D6022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소성 유동과 선택적 개구의 분리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FD004-5E1B-479A-51CE-F1470D3FBDC9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d(∑nP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)/dt=∑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n+1/2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−∑nȦ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2474C-6031-1D2C-F48A-4DC15A142346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ε̇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p,flow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=[χb/(a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S)]∑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𝒥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n+1/2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69476-1D89-0AB6-EAE6-21C09A8DFF48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ε̇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p,open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=[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χ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b/(a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S)][−∑nȦ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+⟨n⟩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∑Ȧ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EB9F5-D082-9052-9B2A-06E6E2EF645F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생존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평균은 우물 간 이동과 선택적 개구 손실로 바뀐다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23F5B-9763-4739-4C5E-1FB52860830C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잔류 소성은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unload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충분한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zero-stress hold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후에도 수렴해야 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C81AD-5A01-9EDD-9AF0-E973ED2828BD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26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9497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2C2A2-8CFA-E0CC-F1BF-E00476F54541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균열 개시의 최초통과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FA3D7-D1E1-48A4-F814-D07666D16C6B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abs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(t)=∫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∫</a:t>
            </a:r>
            <a:r>
              <a:rPr lang="el-G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open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J·n d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dt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ED6DF-5DDD-C303-2333-C9591B0630F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init,local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abs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local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=1−A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abs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4D34D-36AE-AD80-9D78-B6DBF5E063EA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mass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raw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abs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D249F-9F8F-3C47-1271-E71FA9885FBC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개구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dividing surface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실제 흡수와 수치적 보정을 구별한다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1752E-FFD2-C0C3-1891-02CB82523350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격자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시간간격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·flux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일치 오차보다 작은 신호는 미분해로 표시한다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DBB05-3320-CAD6-950C-85CC05B42286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27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220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F536E-2ADA-AC55-430D-56FB37B5C1E2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빠른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유한온도 축약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2309D-4C03-A0BB-65FE-B0A78739686B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(a,s,t)=p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(s,t)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eq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(a|s,f)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545E6-F322-45EF-A3E7-AC2816FB95BE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eq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−G/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ℱ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eff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=−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ln 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87D5C-C744-8306-622D-B98DC6A96C26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ℱ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eff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76480-5615-11BC-27D2-3B9572D0E899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고정 반사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경계에서 빠른 연산자의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nullspace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먼저 구한다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8A5FC-11EC-5A4A-CB24-3D59F2A51158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∂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sℱeff=⟨Gs⟩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solvability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조건이 느린 방정식을 준다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39CDA-2F1D-67BB-6821-2A0A7BEB2E57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28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566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1F9FE-EB13-9115-FDE1-DEFFCC94C5E3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이동 경계와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QSD</a:t>
            </a:r>
            <a:endParaRPr lang="ko-KR" altLang="en-US" sz="3200">
              <a:solidFill>
                <a:srgbClr val="1321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97A63-1C0E-C39E-9826-904992F4550E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Z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=∫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L(s)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U(s)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pl-PL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−G/θ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da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A4481-E514-53DB-5C26-E1336DBB7ED6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∂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ℱ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=⟨G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⟩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θ[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−G(U)/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U′−e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−G(L)/</a:t>
            </a:r>
            <a:r>
              <a:rPr lang="el-G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L′]/Z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8ECF0-22D1-CE86-CC55-EEFF0DA8D35C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ℒ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QSD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=−k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open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QSD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24E29-A39F-BFDE-10AB-2AF1510A23B7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truncated Gibbs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absorbing-process QSD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구별한다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D1845-D4F0-E6BC-51A7-E53757BBA067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국소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sink −kopen ps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고유모드 분리와 시간척도 검증이 필요하다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1CC34-1FB6-E6D2-BF57-0E9C6CD7C26A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29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025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B07E2A-E9C7-FF8E-AA7B-8B93796B3246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선형 완화와 주파수 응답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95ED0-231D-2C26-C24F-43E12DD8018F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δq̇=−MH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δq+Mcδf,     R=M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1/2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r>
              <a:rPr lang="pt-BR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1/2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0A0A7-4DDC-0B13-919D-B524D664F3E5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λ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=eig(R),     τ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=1/λ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25A25-FA6B-97EE-83BF-82BF9CB03F5E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l-G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𝒢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(ω)=(κ/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(i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ω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I+MH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Mc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6E5EC-E3D6-BFD3-B1AF-4AE60082C81F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𝒢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(0)=1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정적 접선 보정에서 나온다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9E69F-BB90-3610-8ABF-0CE3FEA72836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유한 주파수의 진폭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위상은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M, Hessian, ω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함께 결정한다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8F681-BF8B-95B9-8D5F-1EBE99857D47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30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7737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1854C-EC6C-C2DD-B3A2-92721891F4FF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길이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에너지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시간의 차원화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0D1A1-E613-77CD-4A36-4D6CB301BC36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=L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q*,     G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=E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G*,     t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=t</a:t>
            </a:r>
            <a:r>
              <a:rPr lang="fr-F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fr-F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t*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91505-E6D7-7549-10A5-111E37A690DC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M*=(t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/L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)M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[M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]=m²/(J·s)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7C531-6D82-32FC-7E89-9482A8FF96A0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=M*L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/(M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phys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),     f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Hz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=f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model</a:t>
            </a:r>
            <a:r>
              <a:rPr lang="de-DE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/t</a:t>
            </a:r>
            <a:r>
              <a:rPr lang="de-DE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DBEC8-16C3-5CF4-6FDF-B22BA476ED78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P*=L₀²Pphys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이며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θ*=kBT/E₀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확률과 열항도 변환한다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927CCC-20C3-B616-D2BB-0A8F2910EC08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에너지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길이 보정만으로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overdamped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시간은 정해지지 않는다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C3F07-878C-422A-5C02-BBB0565AECFD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31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9276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14FB3E-8282-44A5-0043-B4C91FF72841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집단좌표의 이동도 측정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79334-0773-3ADC-49A1-EACEA2B0AB68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C=⟨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⟩,     K=∫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∞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⟨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q(t)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δ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q(0)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⟩dt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F648B-D6B0-2823-EBA2-A8EDA95B6FDF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H=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Γ=θ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KC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M=CK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5ED9C-1334-1CA5-B9EB-127F45193483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χ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ω)=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(i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ω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I+MH)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Mv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0E63A-8F9A-FC4C-7F6E-C999DC84C95D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 관계는 일치하는 좌표의 조화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평형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·overdamped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가정에서 유도한다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DF0AE-9BA0-2879-16DF-F02901DDFCD1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유한 대역 스펙트럼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S(ω)/2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K(0)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곧바로 등치하지 않는다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17482-59FC-5409-9B13-48A257A64205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32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1231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3BA18-B09D-FA5C-5183-CD379AA08D8A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좌표 축약에서 생기는 기억 효과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76E6C-5B28-65F1-77E2-7EA17E926802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scalar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Cv)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/[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Kv)] ≤ 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Mv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0C2C4-AA26-843E-6EC9-AD5FA7768BC3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χ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(0)=v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Cv/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θ,     −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Im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χ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ω →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Kv/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FB65E-E4A9-42FD-9A01-8C31D4B48AF3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H̄=H/N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M̄=N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pl-PL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M,     θ̄=θ/N</a:t>
            </a:r>
            <a:r>
              <a:rPr lang="pl-PL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0E274-66B0-EB15-BF1B-F3CD101F2D6C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scalar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저주파 응답과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full-system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투영 이동도는 일반적으로 다르다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CDE8B-F01A-94FD-4191-5FC5A6CE0CC8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원자수 정규화에서는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drift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diffusion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동시에 보존해야 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1CC0A-DE3F-6BD6-9FFB-B4762B5A2DBD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33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521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52BBD-D0B8-9837-1359-1346848F0394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이상강도와 실제 소성의 공간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DC127-B104-D1E3-C045-DC5AE1AF5243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γ(d)=W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int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(d)/A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atomic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D6C56-9E96-4E75-537D-3C32759F2C7F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E[d]≈E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elastic</a:t>
            </a:r>
            <a:r>
              <a:rPr lang="pt-B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[d]+∫γ(d(x))dA−W</a:t>
            </a:r>
            <a:r>
              <a:rPr lang="pt-BR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external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77109-DE1D-E6A1-30E7-311573674467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d=(opening,slip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,slip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2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AEDE6-CADC-CEF5-DF2E-3B33C200B7A5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균일 반결정 이동은 결함 없는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coherent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계면의 이상강도를 탐색한다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5B7C6-6ECF-7E60-64D8-2B6767B4947B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국소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slip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에는 주변의 탄성 변형과 전위 코어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·source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기하학이 필요하다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A27DA-5869-F101-52B4-58D7507E4E09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34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360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C251F4-8097-C40E-359A-7B045C83B5ED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반무한 벌크 소거와 비국소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kernel</a:t>
            </a:r>
            <a:endParaRPr lang="ko-KR" altLang="en-US" sz="3200">
              <a:solidFill>
                <a:srgbClr val="13213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00A7B-8514-7593-A0CE-8C3097427859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K(k)=|k|(Z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+Z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E15F0-3132-4D20-5160-EE82D9C5D5C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elastic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=(1/2)∫d̂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†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K(k)d̂ d²k/(2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π)²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8AF54-2794-4BF5-3FC5-896EA913DE0B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jump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=(BH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†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−1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 (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이산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harmonic 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제약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B2A18-1F2E-2040-A165-E6CE92C03944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Z±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같은 벌크 탄성 텐서에서 구한 표면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impedance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73507-E4F2-FA34-8ACE-2750A3EBB385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원자적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finite-q kernel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에는 이미 포함된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local stiffness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중복 가산하지 않는다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57C0C-E8A6-0767-3177-0E7745B285B3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35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1936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00594-AE86-0518-5BE1-495109563975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유한 </a:t>
            </a:r>
            <a:r>
              <a:rPr lang="en-US" altLang="ko-KR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pinned source</a:t>
            </a:r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정적 장벽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C3C3F-45F9-6D8F-D7E6-D3D95518E9E6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G[curve]=∫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line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θ)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dℓ−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 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swept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C733B-B7B3-289E-9717-D4CC2B0E21C5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(γ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line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+γ″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line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)κ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curve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=τb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C9FBA-8356-3F58-141E-E5CFFD6FC910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τ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=2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γ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line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π/2)/(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bL)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BFAC7-1F88-8D3A-0421-3CA538BF615D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실제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source/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고정점 기하학이며 통계적 상관 면적과 다르다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F6BDF-F1C7-0E2C-7B9D-7625ED412670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안정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minor arc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index-one major arc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에너지 차가 장벽을 준다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C7842-10B4-5CD0-A0E0-DF6BEF8DB4FA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36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895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198CB-ABA9-5936-DAAC-BADCB39B5694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국소 확률과 시편 확률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3A49-841E-A531-17E9-E69CC880ACFD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N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eff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stressed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/A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c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27F9F-EE13-AD09-7207-33C1C8AAFCFA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log 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spec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=N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eff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log1p(−P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local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)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7A58B-81D3-16C4-60B0-069371162567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P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spec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=−expm1[log 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spec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</a:t>
            </a:r>
            <a:endParaRPr lang="ko-KR" altLang="en-US" sz="25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68253-F8CB-B7B3-A201-A8B751457149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Ac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통계적으로 독립적인 등가 개시 영역을 가정하는 외부 보정량이다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815E0D-7798-0726-4E81-1264A162DAA4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국소 미분해 신호를 확대해 인증된 시편 확률로 제시하지 않는다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4D1A0-B790-174C-6034-8B66CA4B7285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37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0958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5963E-DCE9-E750-66B6-7EE538CAF01A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보정과 식별성의 수학적 조건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A6447-4648-A3BD-E23B-9D211584139D}"/>
              </a:ext>
            </a:extLst>
          </p:cNvPr>
          <p:cNvSpPr txBox="1"/>
          <p:nvPr/>
        </p:nvSpPr>
        <p:spPr>
          <a:xfrm>
            <a:off x="7366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θ)=[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y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(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θ)−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y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k,target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]/s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endParaRPr lang="ko-KR" altLang="en-US" sz="1750" baseline="-22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9D4C8-B93D-6AB4-05E1-1FB40C54B298}"/>
              </a:ext>
            </a:extLst>
          </p:cNvPr>
          <p:cNvSpPr txBox="1"/>
          <p:nvPr/>
        </p:nvSpPr>
        <p:spPr>
          <a:xfrm>
            <a:off x="736600" y="2717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J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=∂r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k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/∂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θ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i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   J=U</a:t>
            </a:r>
            <a:r>
              <a:rPr lang="el-GR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Σ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V</a:t>
            </a:r>
            <a:r>
              <a:rPr lang="en-US" altLang="ko-KR" sz="1750" baseline="35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T</a:t>
            </a:r>
            <a:endParaRPr lang="ko-KR" altLang="en-US" sz="1750" baseline="35000">
              <a:solidFill>
                <a:srgbClr val="007170"/>
              </a:solidFill>
              <a:latin typeface="Cambria Math" panose="02040503050406030204" pitchFamily="18" charset="0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A34D2-70D5-EAFA-F656-60FDA319F218}"/>
              </a:ext>
            </a:extLst>
          </p:cNvPr>
          <p:cNvSpPr txBox="1"/>
          <p:nvPr/>
        </p:nvSpPr>
        <p:spPr>
          <a:xfrm>
            <a:off x="736600" y="3581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→cρ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0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,  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ref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→cρ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ref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 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에서  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x=ρ/ρ</a:t>
            </a:r>
            <a:r>
              <a:rPr lang="en-US" altLang="ko-KR" sz="1750" baseline="-220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ref</a:t>
            </a:r>
            <a:r>
              <a:rPr lang="en-US" altLang="ko-KR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 </a:t>
            </a:r>
            <a:r>
              <a:rPr lang="ko-KR" altLang="en-US" sz="2500">
                <a:solidFill>
                  <a:srgbClr val="007170"/>
                </a:solidFill>
                <a:latin typeface="Cambria Math" panose="02040503050406030204" pitchFamily="18" charset="0"/>
                <a:ea typeface="Malgun Gothic" panose="020B0503020000020004" pitchFamily="50" charset="-127"/>
              </a:rPr>
              <a:t>불변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FC239-E1B1-B2FD-BAA2-783710CF5A53}"/>
              </a:ext>
            </a:extLst>
          </p:cNvPr>
          <p:cNvSpPr txBox="1"/>
          <p:nvPr/>
        </p:nvSpPr>
        <p:spPr>
          <a:xfrm>
            <a:off x="736600" y="4800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단위와 온도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방향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완화 조건이 일치하는 관측량만 비교한다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4CFFA-1C3A-F402-12FC-116887544C4A}"/>
              </a:ext>
            </a:extLst>
          </p:cNvPr>
          <p:cNvSpPr txBox="1"/>
          <p:nvPr/>
        </p:nvSpPr>
        <p:spPr>
          <a:xfrm>
            <a:off x="736600" y="5524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bulk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접선만 맞춘 후보는 계면 장벽과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finite-q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응답도 검증해야 한다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3A8BA-DFBB-9CEC-9EB2-8B9646EC9A96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38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2253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49FD8-AADA-2DE8-DA76-F8045CE6E434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이론의 연결과 검증 경계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F0A1E-ADB8-C67B-D29A-902488859061}"/>
              </a:ext>
            </a:extLst>
          </p:cNvPr>
          <p:cNvSpPr txBox="1"/>
          <p:nvPr/>
        </p:nvSpPr>
        <p:spPr>
          <a:xfrm>
            <a:off x="736600" y="1917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해석적 기반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LJ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무한합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Poisson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변환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Bessel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계수와 미분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6E79A-AC35-B207-C68C-E64E1DF34A6B}"/>
              </a:ext>
            </a:extLst>
          </p:cNvPr>
          <p:cNvSpPr txBox="1"/>
          <p:nvPr/>
        </p:nvSpPr>
        <p:spPr>
          <a:xfrm>
            <a:off x="736600" y="2641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확률 기반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보존형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Smoluchowski,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생존 조건부 평균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개구 최초통과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B90BA-59F7-AC93-96E7-DC66F4D7BD6A}"/>
              </a:ext>
            </a:extLst>
          </p:cNvPr>
          <p:cNvSpPr txBox="1"/>
          <p:nvPr/>
        </p:nvSpPr>
        <p:spPr>
          <a:xfrm>
            <a:off x="736600" y="3365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연구 확장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full FCC,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활성 계면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환경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moment,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공간 전위와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source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A9189-2329-C889-7D56-EDD1A4F71B16}"/>
              </a:ext>
            </a:extLst>
          </p:cNvPr>
          <p:cNvSpPr txBox="1"/>
          <p:nvPr/>
        </p:nvSpPr>
        <p:spPr>
          <a:xfrm>
            <a:off x="736600" y="4089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물리 검증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Al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재료 적합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국소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kinetics,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항복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피로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Ac</a:t>
            </a:r>
            <a:endParaRPr lang="ko-KR" altLang="en-US" sz="2000">
              <a:solidFill>
                <a:srgbClr val="46464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13FCE-32F2-13EA-FD5D-9C3BC9669A4B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39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5098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89A82A-FBF3-24FD-82DB-DCD682AF7619}"/>
              </a:ext>
            </a:extLst>
          </p:cNvPr>
          <p:cNvSpPr txBox="1"/>
          <p:nvPr/>
        </p:nvSpPr>
        <p:spPr>
          <a:xfrm>
            <a:off x="685800" y="533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3200">
                <a:solidFill>
                  <a:srgbClr val="13213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발표 후 다시 볼 기호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5AE14-A610-B853-427C-74EDAF4E44C2}"/>
              </a:ext>
            </a:extLst>
          </p:cNvPr>
          <p:cNvSpPr txBox="1"/>
          <p:nvPr/>
        </p:nvSpPr>
        <p:spPr>
          <a:xfrm>
            <a:off x="736600" y="1917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a, s, u: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분리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scalar registry,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성분 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registry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2B2F4-01BA-A2AB-E968-77EE458BBE03}"/>
              </a:ext>
            </a:extLst>
          </p:cNvPr>
          <p:cNvSpPr txBox="1"/>
          <p:nvPr/>
        </p:nvSpPr>
        <p:spPr>
          <a:xfrm>
            <a:off x="736600" y="2641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W, G, ℱeff: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내부 에너지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외부 일 포함 에너지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조건부 자유에너지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457F0-32EA-681C-2854-F520525A7984}"/>
              </a:ext>
            </a:extLst>
          </p:cNvPr>
          <p:cNvSpPr txBox="1"/>
          <p:nvPr/>
        </p:nvSpPr>
        <p:spPr>
          <a:xfrm>
            <a:off x="736600" y="3365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P, Pn, Aabs: intact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확률밀도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우물 점유 질량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누적 개구 흡수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07852-D927-CAE4-5A16-93050AF9880C}"/>
              </a:ext>
            </a:extLst>
          </p:cNvPr>
          <p:cNvSpPr txBox="1"/>
          <p:nvPr/>
        </p:nvSpPr>
        <p:spPr>
          <a:xfrm>
            <a:off x="736600" y="4089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M, θ, t₀: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집단좌표 이동도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열 에너지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시간 환산 척도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31EBE-FDAF-FDD2-C42D-1C5C678D57CE}"/>
              </a:ext>
            </a:extLst>
          </p:cNvPr>
          <p:cNvSpPr txBox="1"/>
          <p:nvPr/>
        </p:nvSpPr>
        <p:spPr>
          <a:xfrm>
            <a:off x="736600" y="4813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Aatomic, Ac: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원자 에너지 정규화 면적</a:t>
            </a:r>
            <a:r>
              <a:rPr lang="en-US" altLang="ko-KR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6464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통계적 상관 면적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B9DB8-0BE0-92FA-F172-EE2095B9B6AE}"/>
              </a:ext>
            </a:extLst>
          </p:cNvPr>
          <p:cNvSpPr txBox="1"/>
          <p:nvPr/>
        </p:nvSpPr>
        <p:spPr>
          <a:xfrm>
            <a:off x="736600" y="6426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80808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LJ / BESSEL · THEORY     40 / 40</a:t>
            </a:r>
            <a:endParaRPr lang="ko-KR" altLang="en-US" sz="1100">
              <a:solidFill>
                <a:srgbClr val="808080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656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6458</Words>
  <Application>Microsoft Office PowerPoint</Application>
  <PresentationFormat>사용자 지정</PresentationFormat>
  <Paragraphs>509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Malgun Gothic</vt:lpstr>
      <vt:lpstr>Malgun Gothic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creator>Al fatigue research</dc:creator>
  <ns0:lastModifiedBy>Al fatigue research</ns0:lastModifiedBy>
  <ns0:revision>1</ns0:revision>
  <ns2:created xsi:type="dcterms:W3CDTF">2026-09-12T18:08:48Z</ns2:created>
  <ns2:modified xsi:type="dcterms:W3CDTF">2026-09-12T18:08:49Z</ns2:modified>
</ns0:coreProperties>
</file>